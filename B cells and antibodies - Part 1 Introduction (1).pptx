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07" r:id="rId2"/>
    <p:sldId id="259" r:id="rId3"/>
    <p:sldId id="305" r:id="rId4"/>
    <p:sldId id="308" r:id="rId5"/>
    <p:sldId id="277" r:id="rId6"/>
    <p:sldId id="278" r:id="rId7"/>
    <p:sldId id="279" r:id="rId8"/>
    <p:sldId id="286" r:id="rId9"/>
    <p:sldId id="302" r:id="rId10"/>
    <p:sldId id="299" r:id="rId11"/>
    <p:sldId id="290" r:id="rId12"/>
    <p:sldId id="30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42">
          <p15:clr>
            <a:srgbClr val="A4A3A4"/>
          </p15:clr>
        </p15:guide>
        <p15:guide id="2" pos="521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E6"/>
    <a:srgbClr val="FF00FF"/>
    <a:srgbClr val="D381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53"/>
    <p:restoredTop sz="94626"/>
  </p:normalViewPr>
  <p:slideViewPr>
    <p:cSldViewPr snapToGrid="0" snapToObjects="1" showGuides="1">
      <p:cViewPr varScale="1">
        <p:scale>
          <a:sx n="121" d="100"/>
          <a:sy n="121" d="100"/>
        </p:scale>
        <p:origin x="1440" y="168"/>
      </p:cViewPr>
      <p:guideLst>
        <p:guide orient="horz" pos="942"/>
        <p:guide pos="521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A90169-F027-494E-A738-C744A3791A2D}" type="datetimeFigureOut">
              <a:rPr lang="en-US" smtClean="0"/>
              <a:pPr/>
              <a:t>9/29/25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25BC4-8EF5-EC44-828B-812FDB8609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518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D25BC4-8EF5-EC44-828B-812FDB86090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630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720D4-6B42-549F-9423-E861460E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00503-669B-62AB-99BF-A83514247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C714D-3D28-3B39-B7A0-DE11E5BDE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0A3FF-1B5C-F156-111B-505442EBB3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D25BC4-8EF5-EC44-828B-812FDB86090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581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D25BC4-8EF5-EC44-828B-812FDB86090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565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D25BC4-8EF5-EC44-828B-812FDB86090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565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pPr/>
              <a:t>9/29/25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381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pPr/>
              <a:t>9/29/25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327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pPr/>
              <a:t>9/29/25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198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pPr/>
              <a:t>9/29/25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797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pPr/>
              <a:t>9/29/25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448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pPr/>
              <a:t>9/29/25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36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pPr/>
              <a:t>9/29/25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18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pPr/>
              <a:t>9/29/25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011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pPr/>
              <a:t>9/29/25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28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pPr/>
              <a:t>9/29/25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252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7E2AC-4FFB-6F4C-897A-AEBEBDDC4DC2}" type="datetimeFigureOut">
              <a:rPr lang="en-US" smtClean="0"/>
              <a:pPr/>
              <a:t>9/29/25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681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7E2AC-4FFB-6F4C-897A-AEBEBDDC4DC2}" type="datetimeFigureOut">
              <a:rPr lang="en-US" smtClean="0"/>
              <a:pPr/>
              <a:t>9/29/25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1D001-D807-5D47-A7A7-FF6E3A26E8E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943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9A315C-F13F-9F12-EBEE-8C288AD1B091}"/>
              </a:ext>
            </a:extLst>
          </p:cNvPr>
          <p:cNvSpPr txBox="1"/>
          <p:nvPr/>
        </p:nvSpPr>
        <p:spPr>
          <a:xfrm>
            <a:off x="3867807" y="5827986"/>
            <a:ext cx="1568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Edward Jenner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A169D-35B0-B1F7-7A7A-B4E5D16F054F}"/>
              </a:ext>
            </a:extLst>
          </p:cNvPr>
          <p:cNvSpPr txBox="1"/>
          <p:nvPr/>
        </p:nvSpPr>
        <p:spPr>
          <a:xfrm>
            <a:off x="6101255" y="5827986"/>
            <a:ext cx="1437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James Phipps</a:t>
            </a:r>
          </a:p>
        </p:txBody>
      </p:sp>
      <p:pic>
        <p:nvPicPr>
          <p:cNvPr id="1026" name="Picture 2" descr="From at least the 15th century, people in different parts of the world attempt to prevent illness by intentionally exposing healthy people to smallpox.">
            <a:extLst>
              <a:ext uri="{FF2B5EF4-FFF2-40B4-BE49-F238E27FC236}">
                <a16:creationId xmlns:a16="http://schemas.microsoft.com/office/drawing/2014/main" id="{FFFC7389-25BD-6322-09E3-4815ECCA4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9144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464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504" y="2162476"/>
            <a:ext cx="8628992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B cell development and B cell response</a:t>
            </a:r>
            <a:br>
              <a:rPr lang="en-US" dirty="0"/>
            </a:br>
            <a:r>
              <a:rPr lang="en-US" dirty="0"/>
              <a:t>a.k.a.</a:t>
            </a:r>
            <a:br>
              <a:rPr lang="en-US" b="1" dirty="0"/>
            </a:br>
            <a:r>
              <a:rPr lang="en-US" sz="7300" b="1" dirty="0"/>
              <a:t>B cells and antibodies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32EB3-D3E3-C469-9806-F60CDB4936F3}"/>
              </a:ext>
            </a:extLst>
          </p:cNvPr>
          <p:cNvSpPr txBox="1"/>
          <p:nvPr/>
        </p:nvSpPr>
        <p:spPr>
          <a:xfrm>
            <a:off x="1526626" y="4882069"/>
            <a:ext cx="6085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Pavel Tolar</a:t>
            </a:r>
            <a:br>
              <a:rPr lang="en-US" sz="2400" dirty="0"/>
            </a:br>
            <a:r>
              <a:rPr lang="en-US" sz="2400" dirty="0"/>
              <a:t>UCL Institute of Immunity and Transplantation</a:t>
            </a:r>
          </a:p>
        </p:txBody>
      </p:sp>
      <p:pic>
        <p:nvPicPr>
          <p:cNvPr id="3" name="droppedImage.tiff" descr="droppedImage.tiff">
            <a:extLst>
              <a:ext uri="{FF2B5EF4-FFF2-40B4-BE49-F238E27FC236}">
                <a16:creationId xmlns:a16="http://schemas.microsoft.com/office/drawing/2014/main" id="{AB5B6C1A-CD24-3FDB-632E-3296728A3B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3" t="4394" r="8501" b="3108"/>
          <a:stretch>
            <a:fillRect/>
          </a:stretch>
        </p:blipFill>
        <p:spPr>
          <a:xfrm>
            <a:off x="2246586" y="3552525"/>
            <a:ext cx="1316419" cy="12838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1" h="21503" extrusionOk="0">
                <a:moveTo>
                  <a:pt x="12251" y="1"/>
                </a:moveTo>
                <a:cubicBezTo>
                  <a:pt x="12164" y="6"/>
                  <a:pt x="11988" y="80"/>
                  <a:pt x="11694" y="217"/>
                </a:cubicBezTo>
                <a:cubicBezTo>
                  <a:pt x="10994" y="543"/>
                  <a:pt x="10774" y="1522"/>
                  <a:pt x="11205" y="2387"/>
                </a:cubicBezTo>
                <a:cubicBezTo>
                  <a:pt x="11393" y="2765"/>
                  <a:pt x="11676" y="3225"/>
                  <a:pt x="11838" y="3408"/>
                </a:cubicBezTo>
                <a:cubicBezTo>
                  <a:pt x="12201" y="3818"/>
                  <a:pt x="12137" y="4417"/>
                  <a:pt x="11704" y="4665"/>
                </a:cubicBezTo>
                <a:cubicBezTo>
                  <a:pt x="11526" y="4767"/>
                  <a:pt x="11426" y="4974"/>
                  <a:pt x="11483" y="5127"/>
                </a:cubicBezTo>
                <a:cubicBezTo>
                  <a:pt x="11610" y="5465"/>
                  <a:pt x="11251" y="5740"/>
                  <a:pt x="11070" y="5441"/>
                </a:cubicBezTo>
                <a:cubicBezTo>
                  <a:pt x="10769" y="4942"/>
                  <a:pt x="8232" y="6244"/>
                  <a:pt x="6982" y="7542"/>
                </a:cubicBezTo>
                <a:cubicBezTo>
                  <a:pt x="6253" y="8298"/>
                  <a:pt x="6006" y="8459"/>
                  <a:pt x="5916" y="8220"/>
                </a:cubicBezTo>
                <a:cubicBezTo>
                  <a:pt x="5822" y="7968"/>
                  <a:pt x="5695" y="7944"/>
                  <a:pt x="5225" y="8112"/>
                </a:cubicBezTo>
                <a:cubicBezTo>
                  <a:pt x="4582" y="8341"/>
                  <a:pt x="3955" y="8022"/>
                  <a:pt x="4131" y="7552"/>
                </a:cubicBezTo>
                <a:cubicBezTo>
                  <a:pt x="4184" y="7411"/>
                  <a:pt x="4104" y="7193"/>
                  <a:pt x="3948" y="7061"/>
                </a:cubicBezTo>
                <a:cubicBezTo>
                  <a:pt x="3793" y="6929"/>
                  <a:pt x="3704" y="6745"/>
                  <a:pt x="3756" y="6659"/>
                </a:cubicBezTo>
                <a:cubicBezTo>
                  <a:pt x="3809" y="6572"/>
                  <a:pt x="3714" y="6450"/>
                  <a:pt x="3545" y="6384"/>
                </a:cubicBezTo>
                <a:cubicBezTo>
                  <a:pt x="3376" y="6317"/>
                  <a:pt x="3289" y="6176"/>
                  <a:pt x="3353" y="6069"/>
                </a:cubicBezTo>
                <a:cubicBezTo>
                  <a:pt x="3533" y="5771"/>
                  <a:pt x="2174" y="5585"/>
                  <a:pt x="1702" y="5843"/>
                </a:cubicBezTo>
                <a:cubicBezTo>
                  <a:pt x="1172" y="6134"/>
                  <a:pt x="1167" y="6802"/>
                  <a:pt x="1693" y="7238"/>
                </a:cubicBezTo>
                <a:cubicBezTo>
                  <a:pt x="2186" y="7646"/>
                  <a:pt x="2013" y="8303"/>
                  <a:pt x="1213" y="9064"/>
                </a:cubicBezTo>
                <a:cubicBezTo>
                  <a:pt x="790" y="9467"/>
                  <a:pt x="657" y="9503"/>
                  <a:pt x="406" y="9290"/>
                </a:cubicBezTo>
                <a:cubicBezTo>
                  <a:pt x="71" y="9006"/>
                  <a:pt x="68" y="9010"/>
                  <a:pt x="3" y="9634"/>
                </a:cubicBezTo>
                <a:cubicBezTo>
                  <a:pt x="-22" y="9878"/>
                  <a:pt x="86" y="10126"/>
                  <a:pt x="234" y="10184"/>
                </a:cubicBezTo>
                <a:cubicBezTo>
                  <a:pt x="382" y="10242"/>
                  <a:pt x="502" y="10419"/>
                  <a:pt x="502" y="10577"/>
                </a:cubicBezTo>
                <a:cubicBezTo>
                  <a:pt x="502" y="11010"/>
                  <a:pt x="1281" y="11127"/>
                  <a:pt x="1808" y="10773"/>
                </a:cubicBezTo>
                <a:cubicBezTo>
                  <a:pt x="2065" y="10601"/>
                  <a:pt x="2402" y="10506"/>
                  <a:pt x="2557" y="10567"/>
                </a:cubicBezTo>
                <a:cubicBezTo>
                  <a:pt x="2711" y="10628"/>
                  <a:pt x="2893" y="10529"/>
                  <a:pt x="2960" y="10351"/>
                </a:cubicBezTo>
                <a:cubicBezTo>
                  <a:pt x="3060" y="10083"/>
                  <a:pt x="3194" y="10136"/>
                  <a:pt x="3728" y="10665"/>
                </a:cubicBezTo>
                <a:cubicBezTo>
                  <a:pt x="4472" y="11403"/>
                  <a:pt x="4649" y="11458"/>
                  <a:pt x="4649" y="10930"/>
                </a:cubicBezTo>
                <a:cubicBezTo>
                  <a:pt x="4649" y="10722"/>
                  <a:pt x="4785" y="10439"/>
                  <a:pt x="4947" y="10302"/>
                </a:cubicBezTo>
                <a:cubicBezTo>
                  <a:pt x="5328" y="9978"/>
                  <a:pt x="5378" y="10153"/>
                  <a:pt x="5503" y="12128"/>
                </a:cubicBezTo>
                <a:cubicBezTo>
                  <a:pt x="5673" y="14809"/>
                  <a:pt x="6275" y="15638"/>
                  <a:pt x="8373" y="16066"/>
                </a:cubicBezTo>
                <a:lnTo>
                  <a:pt x="9477" y="16292"/>
                </a:lnTo>
                <a:lnTo>
                  <a:pt x="9410" y="17284"/>
                </a:lnTo>
                <a:cubicBezTo>
                  <a:pt x="9340" y="18453"/>
                  <a:pt x="9288" y="18590"/>
                  <a:pt x="8824" y="18590"/>
                </a:cubicBezTo>
                <a:cubicBezTo>
                  <a:pt x="8632" y="18590"/>
                  <a:pt x="8264" y="18813"/>
                  <a:pt x="8009" y="19091"/>
                </a:cubicBezTo>
                <a:cubicBezTo>
                  <a:pt x="7753" y="19369"/>
                  <a:pt x="7402" y="19601"/>
                  <a:pt x="7231" y="19601"/>
                </a:cubicBezTo>
                <a:cubicBezTo>
                  <a:pt x="7034" y="19601"/>
                  <a:pt x="6924" y="19773"/>
                  <a:pt x="6924" y="20083"/>
                </a:cubicBezTo>
                <a:cubicBezTo>
                  <a:pt x="6924" y="20351"/>
                  <a:pt x="7007" y="20563"/>
                  <a:pt x="7116" y="20544"/>
                </a:cubicBezTo>
                <a:cubicBezTo>
                  <a:pt x="7225" y="20526"/>
                  <a:pt x="7296" y="20713"/>
                  <a:pt x="7269" y="20966"/>
                </a:cubicBezTo>
                <a:cubicBezTo>
                  <a:pt x="7229" y="21350"/>
                  <a:pt x="7298" y="21424"/>
                  <a:pt x="7701" y="21369"/>
                </a:cubicBezTo>
                <a:cubicBezTo>
                  <a:pt x="7968" y="21332"/>
                  <a:pt x="8250" y="21230"/>
                  <a:pt x="8325" y="21153"/>
                </a:cubicBezTo>
                <a:cubicBezTo>
                  <a:pt x="8401" y="21076"/>
                  <a:pt x="8594" y="21120"/>
                  <a:pt x="8748" y="21251"/>
                </a:cubicBezTo>
                <a:cubicBezTo>
                  <a:pt x="9093" y="21545"/>
                  <a:pt x="9437" y="21104"/>
                  <a:pt x="9276" y="20574"/>
                </a:cubicBezTo>
                <a:cubicBezTo>
                  <a:pt x="9210" y="20359"/>
                  <a:pt x="9331" y="20147"/>
                  <a:pt x="9592" y="20004"/>
                </a:cubicBezTo>
                <a:cubicBezTo>
                  <a:pt x="10195" y="19674"/>
                  <a:pt x="10643" y="20098"/>
                  <a:pt x="10495" y="20858"/>
                </a:cubicBezTo>
                <a:cubicBezTo>
                  <a:pt x="10433" y="21176"/>
                  <a:pt x="10453" y="21397"/>
                  <a:pt x="10533" y="21349"/>
                </a:cubicBezTo>
                <a:cubicBezTo>
                  <a:pt x="10613" y="21302"/>
                  <a:pt x="10853" y="21341"/>
                  <a:pt x="11070" y="21428"/>
                </a:cubicBezTo>
                <a:cubicBezTo>
                  <a:pt x="11489" y="21595"/>
                  <a:pt x="12340" y="21467"/>
                  <a:pt x="12625" y="21202"/>
                </a:cubicBezTo>
                <a:cubicBezTo>
                  <a:pt x="12826" y="21016"/>
                  <a:pt x="11452" y="18669"/>
                  <a:pt x="11051" y="18511"/>
                </a:cubicBezTo>
                <a:cubicBezTo>
                  <a:pt x="10858" y="18435"/>
                  <a:pt x="10820" y="18206"/>
                  <a:pt x="10907" y="17736"/>
                </a:cubicBezTo>
                <a:cubicBezTo>
                  <a:pt x="11095" y="16722"/>
                  <a:pt x="11336" y="16361"/>
                  <a:pt x="11838" y="16361"/>
                </a:cubicBezTo>
                <a:cubicBezTo>
                  <a:pt x="12576" y="16361"/>
                  <a:pt x="13594" y="15946"/>
                  <a:pt x="14161" y="15408"/>
                </a:cubicBezTo>
                <a:cubicBezTo>
                  <a:pt x="14489" y="15097"/>
                  <a:pt x="14794" y="14968"/>
                  <a:pt x="14958" y="15065"/>
                </a:cubicBezTo>
                <a:cubicBezTo>
                  <a:pt x="15103" y="15150"/>
                  <a:pt x="15160" y="15143"/>
                  <a:pt x="15083" y="15055"/>
                </a:cubicBezTo>
                <a:cubicBezTo>
                  <a:pt x="15005" y="14967"/>
                  <a:pt x="15067" y="14709"/>
                  <a:pt x="15227" y="14475"/>
                </a:cubicBezTo>
                <a:cubicBezTo>
                  <a:pt x="15555" y="13996"/>
                  <a:pt x="16676" y="13829"/>
                  <a:pt x="16830" y="14240"/>
                </a:cubicBezTo>
                <a:cubicBezTo>
                  <a:pt x="16883" y="14382"/>
                  <a:pt x="17083" y="14460"/>
                  <a:pt x="17281" y="14407"/>
                </a:cubicBezTo>
                <a:cubicBezTo>
                  <a:pt x="17731" y="14286"/>
                  <a:pt x="17995" y="14675"/>
                  <a:pt x="17703" y="15035"/>
                </a:cubicBezTo>
                <a:cubicBezTo>
                  <a:pt x="17535" y="15243"/>
                  <a:pt x="17575" y="15325"/>
                  <a:pt x="17885" y="15408"/>
                </a:cubicBezTo>
                <a:cubicBezTo>
                  <a:pt x="18107" y="15468"/>
                  <a:pt x="18386" y="15791"/>
                  <a:pt x="18500" y="16125"/>
                </a:cubicBezTo>
                <a:cubicBezTo>
                  <a:pt x="18614" y="16460"/>
                  <a:pt x="18837" y="16788"/>
                  <a:pt x="18999" y="16852"/>
                </a:cubicBezTo>
                <a:cubicBezTo>
                  <a:pt x="19162" y="16916"/>
                  <a:pt x="19231" y="17075"/>
                  <a:pt x="19152" y="17205"/>
                </a:cubicBezTo>
                <a:cubicBezTo>
                  <a:pt x="19055" y="17367"/>
                  <a:pt x="19096" y="17378"/>
                  <a:pt x="19287" y="17254"/>
                </a:cubicBezTo>
                <a:cubicBezTo>
                  <a:pt x="19553" y="17082"/>
                  <a:pt x="19649" y="17055"/>
                  <a:pt x="20036" y="16999"/>
                </a:cubicBezTo>
                <a:cubicBezTo>
                  <a:pt x="20249" y="16968"/>
                  <a:pt x="20210" y="15349"/>
                  <a:pt x="19988" y="14986"/>
                </a:cubicBezTo>
                <a:cubicBezTo>
                  <a:pt x="19896" y="14837"/>
                  <a:pt x="19930" y="14602"/>
                  <a:pt x="20064" y="14436"/>
                </a:cubicBezTo>
                <a:cubicBezTo>
                  <a:pt x="20195" y="14276"/>
                  <a:pt x="20251" y="14011"/>
                  <a:pt x="20189" y="13847"/>
                </a:cubicBezTo>
                <a:cubicBezTo>
                  <a:pt x="20014" y="13380"/>
                  <a:pt x="20397" y="13282"/>
                  <a:pt x="20947" y="13650"/>
                </a:cubicBezTo>
                <a:lnTo>
                  <a:pt x="21447" y="13984"/>
                </a:lnTo>
                <a:lnTo>
                  <a:pt x="21456" y="13307"/>
                </a:lnTo>
                <a:cubicBezTo>
                  <a:pt x="21464" y="12933"/>
                  <a:pt x="21507" y="12474"/>
                  <a:pt x="21543" y="12285"/>
                </a:cubicBezTo>
                <a:cubicBezTo>
                  <a:pt x="21578" y="12097"/>
                  <a:pt x="21496" y="11788"/>
                  <a:pt x="21360" y="11598"/>
                </a:cubicBezTo>
                <a:cubicBezTo>
                  <a:pt x="21130" y="11276"/>
                  <a:pt x="21061" y="11271"/>
                  <a:pt x="20458" y="11578"/>
                </a:cubicBezTo>
                <a:cubicBezTo>
                  <a:pt x="20102" y="11760"/>
                  <a:pt x="19735" y="11859"/>
                  <a:pt x="19632" y="11794"/>
                </a:cubicBezTo>
                <a:cubicBezTo>
                  <a:pt x="19530" y="11730"/>
                  <a:pt x="19289" y="11810"/>
                  <a:pt x="19104" y="11981"/>
                </a:cubicBezTo>
                <a:cubicBezTo>
                  <a:pt x="18715" y="12342"/>
                  <a:pt x="17729" y="12565"/>
                  <a:pt x="17415" y="12364"/>
                </a:cubicBezTo>
                <a:cubicBezTo>
                  <a:pt x="17296" y="12288"/>
                  <a:pt x="17068" y="12229"/>
                  <a:pt x="16916" y="12227"/>
                </a:cubicBezTo>
                <a:cubicBezTo>
                  <a:pt x="16705" y="12222"/>
                  <a:pt x="16629" y="11830"/>
                  <a:pt x="16599" y="10577"/>
                </a:cubicBezTo>
                <a:cubicBezTo>
                  <a:pt x="16554" y="8685"/>
                  <a:pt x="16312" y="8203"/>
                  <a:pt x="14843" y="7081"/>
                </a:cubicBezTo>
                <a:cubicBezTo>
                  <a:pt x="13939" y="6391"/>
                  <a:pt x="13938" y="6378"/>
                  <a:pt x="14334" y="6001"/>
                </a:cubicBezTo>
                <a:cubicBezTo>
                  <a:pt x="14796" y="5561"/>
                  <a:pt x="14655" y="5163"/>
                  <a:pt x="14094" y="5313"/>
                </a:cubicBezTo>
                <a:cubicBezTo>
                  <a:pt x="13625" y="5439"/>
                  <a:pt x="13431" y="5022"/>
                  <a:pt x="13710" y="4488"/>
                </a:cubicBezTo>
                <a:cubicBezTo>
                  <a:pt x="13850" y="4220"/>
                  <a:pt x="14101" y="4110"/>
                  <a:pt x="14516" y="4135"/>
                </a:cubicBezTo>
                <a:cubicBezTo>
                  <a:pt x="15093" y="4170"/>
                  <a:pt x="15689" y="3762"/>
                  <a:pt x="15687" y="3330"/>
                </a:cubicBezTo>
                <a:cubicBezTo>
                  <a:pt x="15687" y="3218"/>
                  <a:pt x="16025" y="3027"/>
                  <a:pt x="16436" y="2907"/>
                </a:cubicBezTo>
                <a:cubicBezTo>
                  <a:pt x="17104" y="2713"/>
                  <a:pt x="17131" y="2673"/>
                  <a:pt x="16724" y="2564"/>
                </a:cubicBezTo>
                <a:cubicBezTo>
                  <a:pt x="16473" y="2496"/>
                  <a:pt x="16316" y="2353"/>
                  <a:pt x="16378" y="2249"/>
                </a:cubicBezTo>
                <a:cubicBezTo>
                  <a:pt x="16573" y="1927"/>
                  <a:pt x="15764" y="1337"/>
                  <a:pt x="15371" y="1513"/>
                </a:cubicBezTo>
                <a:cubicBezTo>
                  <a:pt x="15176" y="1599"/>
                  <a:pt x="14931" y="1658"/>
                  <a:pt x="14814" y="1640"/>
                </a:cubicBezTo>
                <a:cubicBezTo>
                  <a:pt x="14697" y="1623"/>
                  <a:pt x="14387" y="1835"/>
                  <a:pt x="14132" y="2112"/>
                </a:cubicBezTo>
                <a:cubicBezTo>
                  <a:pt x="13779" y="2497"/>
                  <a:pt x="13615" y="2558"/>
                  <a:pt x="13413" y="2387"/>
                </a:cubicBezTo>
                <a:cubicBezTo>
                  <a:pt x="13102" y="2123"/>
                  <a:pt x="13062" y="1486"/>
                  <a:pt x="13345" y="1307"/>
                </a:cubicBezTo>
                <a:cubicBezTo>
                  <a:pt x="13454" y="1238"/>
                  <a:pt x="13537" y="1039"/>
                  <a:pt x="13537" y="865"/>
                </a:cubicBezTo>
                <a:cubicBezTo>
                  <a:pt x="13537" y="626"/>
                  <a:pt x="13475" y="600"/>
                  <a:pt x="13278" y="766"/>
                </a:cubicBezTo>
                <a:cubicBezTo>
                  <a:pt x="12976" y="1023"/>
                  <a:pt x="12067" y="497"/>
                  <a:pt x="12261" y="177"/>
                </a:cubicBezTo>
                <a:cubicBezTo>
                  <a:pt x="12335" y="54"/>
                  <a:pt x="12339" y="-5"/>
                  <a:pt x="12251" y="1"/>
                </a:cubicBezTo>
                <a:close/>
                <a:moveTo>
                  <a:pt x="20515" y="10577"/>
                </a:moveTo>
                <a:cubicBezTo>
                  <a:pt x="20480" y="10593"/>
                  <a:pt x="20458" y="10636"/>
                  <a:pt x="20458" y="10695"/>
                </a:cubicBezTo>
                <a:cubicBezTo>
                  <a:pt x="20458" y="10812"/>
                  <a:pt x="20541" y="10901"/>
                  <a:pt x="20650" y="10901"/>
                </a:cubicBezTo>
                <a:cubicBezTo>
                  <a:pt x="20759" y="10901"/>
                  <a:pt x="20851" y="10861"/>
                  <a:pt x="20851" y="10812"/>
                </a:cubicBezTo>
                <a:cubicBezTo>
                  <a:pt x="20851" y="10763"/>
                  <a:pt x="20759" y="10675"/>
                  <a:pt x="20650" y="10606"/>
                </a:cubicBezTo>
                <a:cubicBezTo>
                  <a:pt x="20596" y="10572"/>
                  <a:pt x="20551" y="10561"/>
                  <a:pt x="20515" y="10577"/>
                </a:cubicBezTo>
                <a:close/>
              </a:path>
            </a:pathLst>
          </a:custGeom>
          <a:ln w="12700" cap="flat">
            <a:noFill/>
            <a:miter lim="400000"/>
          </a:ln>
          <a:effectLst/>
        </p:spPr>
      </p:pic>
      <p:pic>
        <p:nvPicPr>
          <p:cNvPr id="5" name="Ab.png" descr="Ab.png">
            <a:extLst>
              <a:ext uri="{FF2B5EF4-FFF2-40B4-BE49-F238E27FC236}">
                <a16:creationId xmlns:a16="http://schemas.microsoft.com/office/drawing/2014/main" id="{4EEE1440-FA42-04ED-065B-8923C317B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0915" y="3490776"/>
            <a:ext cx="1981201" cy="139129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39238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59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B cells and antibodies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6250"/>
            <a:ext cx="8229600" cy="5130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500" dirty="0"/>
              <a:t>Intro  </a:t>
            </a:r>
            <a:endParaRPr lang="en-US" sz="2500" dirty="0">
              <a:latin typeface="Zapf Dingbats"/>
              <a:ea typeface="Zapf Dingbats"/>
              <a:cs typeface="Zapf Dingbats"/>
              <a:sym typeface="Zapf Dingbats"/>
            </a:endParaRPr>
          </a:p>
          <a:p>
            <a:pPr marL="514350" indent="-514350">
              <a:buFont typeface="+mj-lt"/>
              <a:buAutoNum type="arabicPeriod"/>
            </a:pPr>
            <a:endParaRPr lang="en-US" sz="2500" dirty="0"/>
          </a:p>
          <a:p>
            <a:pPr marL="514350" indent="-514350">
              <a:buFont typeface="+mj-lt"/>
              <a:buAutoNum type="arabicPeriod"/>
            </a:pPr>
            <a:r>
              <a:rPr lang="en-US" sz="2500" dirty="0"/>
              <a:t>B cell development </a:t>
            </a:r>
          </a:p>
          <a:p>
            <a:pPr marL="514350" indent="-514350">
              <a:buFont typeface="+mj-lt"/>
              <a:buAutoNum type="arabicPeriod"/>
            </a:pPr>
            <a:endParaRPr lang="en-US" sz="2500" dirty="0"/>
          </a:p>
          <a:p>
            <a:pPr marL="514350" indent="-514350">
              <a:buFont typeface="+mj-lt"/>
              <a:buAutoNum type="arabicPeriod"/>
            </a:pPr>
            <a:r>
              <a:rPr lang="en-US" sz="2500" dirty="0"/>
              <a:t>B cell activation </a:t>
            </a:r>
          </a:p>
          <a:p>
            <a:pPr marL="514350" indent="-514350">
              <a:buFont typeface="+mj-lt"/>
              <a:buAutoNum type="arabicPeriod"/>
            </a:pPr>
            <a:endParaRPr lang="en-US" sz="2500" dirty="0"/>
          </a:p>
          <a:p>
            <a:pPr marL="514350" indent="-514350">
              <a:buFont typeface="+mj-lt"/>
              <a:buAutoNum type="arabicPeriod"/>
            </a:pPr>
            <a:r>
              <a:rPr lang="en-US" sz="2500" dirty="0"/>
              <a:t>Germinal centre </a:t>
            </a:r>
          </a:p>
          <a:p>
            <a:pPr marL="514350" indent="-514350">
              <a:buFont typeface="+mj-lt"/>
              <a:buAutoNum type="arabicPeriod"/>
            </a:pPr>
            <a:endParaRPr lang="en-US" sz="2500" dirty="0"/>
          </a:p>
          <a:p>
            <a:pPr marL="514350" indent="-514350">
              <a:buFont typeface="+mj-lt"/>
              <a:buAutoNum type="arabicPeriod"/>
            </a:pPr>
            <a:r>
              <a:rPr lang="en-US" sz="2500" dirty="0"/>
              <a:t>Antibody recognition of pathogens </a:t>
            </a:r>
          </a:p>
          <a:p>
            <a:pPr marL="514350" indent="-514350">
              <a:buFont typeface="+mj-lt"/>
              <a:buAutoNum type="arabicPeriod"/>
            </a:pPr>
            <a:endParaRPr lang="en-US" sz="2500" dirty="0"/>
          </a:p>
          <a:p>
            <a:pPr marL="514350" indent="-514350">
              <a:buFont typeface="+mj-lt"/>
              <a:buAutoNum type="arabicPeriod"/>
            </a:pPr>
            <a:r>
              <a:rPr lang="en-US" sz="2500" dirty="0"/>
              <a:t>Antibody effector function and memory</a:t>
            </a:r>
          </a:p>
          <a:p>
            <a:pPr marL="514350" indent="-514350">
              <a:buFont typeface="+mj-lt"/>
              <a:buAutoNum type="arabicPeriod"/>
            </a:pPr>
            <a:endParaRPr lang="en-US" sz="25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131D7D-30CA-2F46-B27C-837469D6FE5B}"/>
              </a:ext>
            </a:extLst>
          </p:cNvPr>
          <p:cNvSpPr/>
          <p:nvPr/>
        </p:nvSpPr>
        <p:spPr>
          <a:xfrm>
            <a:off x="328536" y="1008993"/>
            <a:ext cx="3873357" cy="90412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84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DD395-83F6-DA0D-9ECD-1E1E79FAE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916D1-CC92-553D-D544-1B7502900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422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 cells and antibodies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Introduction</a:t>
            </a:r>
            <a:br>
              <a:rPr lang="en-US" b="1" dirty="0"/>
            </a:br>
            <a:br>
              <a:rPr lang="en-US" b="1" dirty="0"/>
            </a:br>
            <a:r>
              <a:rPr lang="en-US" sz="3100" i="1" dirty="0"/>
              <a:t>Why is humoral immunity important?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44F96-9B7C-0137-4DD5-328A69C39B5D}"/>
              </a:ext>
            </a:extLst>
          </p:cNvPr>
          <p:cNvSpPr txBox="1"/>
          <p:nvPr/>
        </p:nvSpPr>
        <p:spPr>
          <a:xfrm>
            <a:off x="2286000" y="51790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Pavel Tolar</a:t>
            </a:r>
            <a:br>
              <a:rPr lang="en-US" sz="1800" dirty="0"/>
            </a:br>
            <a:r>
              <a:rPr lang="en-US" sz="1800" dirty="0"/>
              <a:t>Institute of Immunity and Transplantation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91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868" r="6163"/>
          <a:stretch/>
        </p:blipFill>
        <p:spPr>
          <a:xfrm>
            <a:off x="4516552" y="0"/>
            <a:ext cx="4595917" cy="683959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56922"/>
            <a:ext cx="4826000" cy="1143000"/>
          </a:xfrm>
        </p:spPr>
        <p:txBody>
          <a:bodyPr>
            <a:noAutofit/>
          </a:bodyPr>
          <a:lstStyle/>
          <a:p>
            <a:r>
              <a:rPr lang="en-US" sz="3600" b="1" dirty="0"/>
              <a:t>Why is humoral immunity important?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39683" y="1756776"/>
            <a:ext cx="3946634" cy="4525963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b="1" u="sng" dirty="0"/>
              <a:t>1. Vaccines</a:t>
            </a:r>
            <a:endParaRPr lang="en-US" b="1" dirty="0"/>
          </a:p>
          <a:p>
            <a:pPr marL="457200" lvl="1" indent="-45720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2nd largest impact on mortality (after clean water)</a:t>
            </a:r>
          </a:p>
          <a:p>
            <a:pPr marL="457200" lvl="1" indent="-45720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Trigger humoral immunity and produce protective antibodies</a:t>
            </a:r>
          </a:p>
        </p:txBody>
      </p:sp>
    </p:spTree>
    <p:extLst>
      <p:ext uri="{BB962C8B-B14F-4D97-AF65-F5344CB8AC3E}">
        <p14:creationId xmlns:p14="http://schemas.microsoft.com/office/powerpoint/2010/main" val="3926942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1" y="1600200"/>
            <a:ext cx="8251370" cy="4525963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b="1" dirty="0"/>
              <a:t>2. Antibodies as molecular tools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Diagnostics: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Viral infections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Autoimmunity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Cancer biomarkers</a:t>
            </a:r>
          </a:p>
          <a:p>
            <a:pPr marL="457200" lvl="1" indent="-45720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Pregnancy tests</a:t>
            </a:r>
          </a:p>
          <a:p>
            <a:pPr marL="457200" lvl="1" indent="-45720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Lab tools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55EF52-0CE6-B28E-B0EB-F91ACB4EECD8}"/>
              </a:ext>
            </a:extLst>
          </p:cNvPr>
          <p:cNvSpPr txBox="1">
            <a:spLocks/>
          </p:cNvSpPr>
          <p:nvPr/>
        </p:nvSpPr>
        <p:spPr>
          <a:xfrm>
            <a:off x="0" y="56922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Why is humoral immunity important?</a:t>
            </a:r>
          </a:p>
        </p:txBody>
      </p:sp>
      <p:pic>
        <p:nvPicPr>
          <p:cNvPr id="1026" name="Picture 2" descr="What is a Lateral Flow Assay and How Does It Work - JOYSBIO Biotech">
            <a:extLst>
              <a:ext uri="{FF2B5EF4-FFF2-40B4-BE49-F238E27FC236}">
                <a16:creationId xmlns:a16="http://schemas.microsoft.com/office/drawing/2014/main" id="{97A8953A-C60A-5964-05E8-1A68225FB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979" y="4899278"/>
            <a:ext cx="4572000" cy="188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en should lateral flow tests be used in UK once kits are no longer free?  | Coronavirus | The Guardian">
            <a:extLst>
              <a:ext uri="{FF2B5EF4-FFF2-40B4-BE49-F238E27FC236}">
                <a16:creationId xmlns:a16="http://schemas.microsoft.com/office/drawing/2014/main" id="{51BEBC8B-F21B-F08A-27D5-379A61F8E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041" y="3534594"/>
            <a:ext cx="2274473" cy="1364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A486FD-E591-A167-D2B6-FAE5B89D2774}"/>
              </a:ext>
            </a:extLst>
          </p:cNvPr>
          <p:cNvSpPr txBox="1"/>
          <p:nvPr/>
        </p:nvSpPr>
        <p:spPr>
          <a:xfrm>
            <a:off x="4544377" y="3134316"/>
            <a:ext cx="218713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 eaLnBrk="1" hangingPunct="1">
              <a:defRPr/>
            </a:pPr>
            <a:r>
              <a:rPr lang="en-US" sz="2400" dirty="0">
                <a:latin typeface="+mn-lt"/>
                <a:ea typeface="Arial" pitchFamily="-102" charset="0"/>
                <a:cs typeface="Arial" pitchFamily="-102" charset="0"/>
              </a:rPr>
              <a:t>Lateral flow test</a:t>
            </a:r>
          </a:p>
        </p:txBody>
      </p:sp>
    </p:spTree>
    <p:extLst>
      <p:ext uri="{BB962C8B-B14F-4D97-AF65-F5344CB8AC3E}">
        <p14:creationId xmlns:p14="http://schemas.microsoft.com/office/powerpoint/2010/main" val="844989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0040" y="1564287"/>
            <a:ext cx="7714593" cy="1143000"/>
          </a:xfrm>
        </p:spPr>
        <p:txBody>
          <a:bodyPr>
            <a:normAutofit/>
          </a:bodyPr>
          <a:lstStyle/>
          <a:p>
            <a:r>
              <a:rPr lang="en-US" sz="2800" b="1" dirty="0"/>
              <a:t>3. Antibodies as new therapeutics – “Biologicals”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708699" y="2682297"/>
            <a:ext cx="4714640" cy="428766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Purified antibodies or conjugated to drugs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227" y="3321270"/>
            <a:ext cx="2648813" cy="23635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264" y="3227185"/>
            <a:ext cx="6143896" cy="23635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97245D-1B4C-2420-25D3-A6C51B50B430}"/>
              </a:ext>
            </a:extLst>
          </p:cNvPr>
          <p:cNvSpPr txBox="1">
            <a:spLocks/>
          </p:cNvSpPr>
          <p:nvPr/>
        </p:nvSpPr>
        <p:spPr>
          <a:xfrm>
            <a:off x="0" y="56922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Why is humoral immunity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7252C-EED3-604F-80D7-6A38A1AC64F2}"/>
              </a:ext>
            </a:extLst>
          </p:cNvPr>
          <p:cNvSpPr txBox="1">
            <a:spLocks/>
          </p:cNvSpPr>
          <p:nvPr/>
        </p:nvSpPr>
        <p:spPr>
          <a:xfrm>
            <a:off x="3066019" y="5343264"/>
            <a:ext cx="441600" cy="589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/>
              <a:buNone/>
            </a:pPr>
            <a:r>
              <a:rPr lang="en-US" sz="40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7A2B78-7C02-5440-FD94-E8B6E5937589}"/>
              </a:ext>
            </a:extLst>
          </p:cNvPr>
          <p:cNvSpPr txBox="1">
            <a:spLocks/>
          </p:cNvSpPr>
          <p:nvPr/>
        </p:nvSpPr>
        <p:spPr>
          <a:xfrm>
            <a:off x="6859233" y="2834697"/>
            <a:ext cx="2134349" cy="4287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/>
              <a:buNone/>
            </a:pPr>
            <a:r>
              <a:rPr lang="en-US" sz="2000" dirty="0">
                <a:solidFill>
                  <a:srgbClr val="000000"/>
                </a:solidFill>
              </a:rPr>
              <a:t>Parts of CAR-T cells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E8E755E-7CE9-86F2-6FCC-C4B4537F2BEE}"/>
              </a:ext>
            </a:extLst>
          </p:cNvPr>
          <p:cNvSpPr txBox="1">
            <a:spLocks/>
          </p:cNvSpPr>
          <p:nvPr/>
        </p:nvSpPr>
        <p:spPr>
          <a:xfrm>
            <a:off x="3066019" y="5488041"/>
            <a:ext cx="441600" cy="589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/>
              <a:buNone/>
            </a:pPr>
            <a:r>
              <a:rPr lang="en-US" sz="40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A71B35B-D1FF-696F-DC71-2D8214E2A33F}"/>
              </a:ext>
            </a:extLst>
          </p:cNvPr>
          <p:cNvSpPr txBox="1">
            <a:spLocks/>
          </p:cNvSpPr>
          <p:nvPr/>
        </p:nvSpPr>
        <p:spPr>
          <a:xfrm>
            <a:off x="3066019" y="5629931"/>
            <a:ext cx="441600" cy="5893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/>
              <a:buNone/>
            </a:pPr>
            <a:r>
              <a:rPr lang="en-US" sz="40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1736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585" y="1738312"/>
            <a:ext cx="3735616" cy="3735616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39057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What is an antibody?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847F68-96AE-88EA-1FEC-708D2C8EB217}"/>
              </a:ext>
            </a:extLst>
          </p:cNvPr>
          <p:cNvSpPr txBox="1"/>
          <p:nvPr/>
        </p:nvSpPr>
        <p:spPr>
          <a:xfrm>
            <a:off x="6484883" y="1738312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Binds to targets (</a:t>
            </a:r>
            <a:r>
              <a:rPr lang="en-US" b="1" dirty="0"/>
              <a:t>Antigens</a:t>
            </a:r>
            <a:r>
              <a:rPr lang="en-US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76323-BB72-4E36-BDF0-E0E3220A8949}"/>
              </a:ext>
            </a:extLst>
          </p:cNvPr>
          <p:cNvSpPr txBox="1"/>
          <p:nvPr/>
        </p:nvSpPr>
        <p:spPr>
          <a:xfrm>
            <a:off x="2054773" y="5607575"/>
            <a:ext cx="2180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Recruits </a:t>
            </a:r>
            <a:r>
              <a:rPr lang="en-US" b="1" dirty="0"/>
              <a:t>effector</a:t>
            </a:r>
            <a:r>
              <a:rPr lang="en-US" dirty="0"/>
              <a:t> immune molecules and cells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2B7E5-5555-2FE6-065C-91F89D6AA3FA}"/>
              </a:ext>
            </a:extLst>
          </p:cNvPr>
          <p:cNvSpPr txBox="1"/>
          <p:nvPr/>
        </p:nvSpPr>
        <p:spPr>
          <a:xfrm>
            <a:off x="549103" y="1738312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Binds to targets (</a:t>
            </a:r>
            <a:r>
              <a:rPr lang="en-US" b="1" dirty="0"/>
              <a:t>Antigens</a:t>
            </a:r>
            <a:r>
              <a:rPr lang="en-US" dirty="0"/>
              <a:t>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D1C425-56C3-E648-CFAC-51667FBA0D64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377903" y="2061478"/>
            <a:ext cx="628056" cy="931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48476E-D531-D25E-7BBE-D39F5AFF9D16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5980386" y="2061478"/>
            <a:ext cx="504497" cy="2672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5D9218-6323-FB77-80A6-B1EC70CA3054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3145221" y="5002924"/>
            <a:ext cx="512379" cy="6046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077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44492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 dirty="0"/>
              <a:t>What are the structural components of an antibody?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46116" y="1502569"/>
            <a:ext cx="8382574" cy="5021943"/>
          </a:xfrm>
        </p:spPr>
        <p:txBody>
          <a:bodyPr>
            <a:noAutofit/>
          </a:bodyPr>
          <a:lstStyle/>
          <a:p>
            <a:pPr>
              <a:buFont typeface="Wingdings" charset="2"/>
              <a:buChar char="Ø"/>
            </a:pPr>
            <a:r>
              <a:rPr lang="en-US" sz="2400" dirty="0"/>
              <a:t>Immunoglobulin – Ig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charset="2"/>
              <a:buChar char="Ø"/>
            </a:pPr>
            <a:r>
              <a:rPr lang="en-US" sz="2400" dirty="0"/>
              <a:t>Encoded by 2 blocks (loci) of DNA within the genome: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Heavy</a:t>
            </a:r>
            <a:r>
              <a:rPr lang="en-US" sz="2000" dirty="0"/>
              <a:t> chain and </a:t>
            </a:r>
            <a:r>
              <a:rPr lang="en-US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light</a:t>
            </a:r>
            <a:r>
              <a:rPr lang="en-US" sz="20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000" dirty="0"/>
              <a:t>chain loci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charset="2"/>
              <a:buChar char="Ø"/>
            </a:pPr>
            <a:r>
              <a:rPr lang="en-US" sz="2400" dirty="0"/>
              <a:t>2 transcripts =&gt;</a:t>
            </a:r>
            <a:br>
              <a:rPr lang="en-US" sz="2400" dirty="0"/>
            </a:br>
            <a:r>
              <a:rPr lang="en-US" sz="2400" dirty="0"/>
              <a:t>2 polypeptide chains translated</a:t>
            </a:r>
          </a:p>
          <a:p>
            <a:pPr>
              <a:buFont typeface="Wingdings" charset="2"/>
              <a:buChar char="Ø"/>
            </a:pPr>
            <a:endParaRPr lang="en-US" sz="2400" dirty="0"/>
          </a:p>
          <a:p>
            <a:pPr>
              <a:buFont typeface="Wingdings" charset="2"/>
              <a:buChar char="Ø"/>
            </a:pPr>
            <a:r>
              <a:rPr lang="en-US" sz="2400" dirty="0"/>
              <a:t>Co-expressed and bind together covalently</a:t>
            </a:r>
          </a:p>
          <a:p>
            <a:pPr>
              <a:buFont typeface="Wingdings" charset="2"/>
              <a:buChar char="Ø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D001-D807-5D47-A7A7-FF6E3A26E8E9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4125CBC-1047-1C01-7EFF-379ACD38BE87}"/>
              </a:ext>
            </a:extLst>
          </p:cNvPr>
          <p:cNvGrpSpPr/>
          <p:nvPr/>
        </p:nvGrpSpPr>
        <p:grpSpPr>
          <a:xfrm>
            <a:off x="5997139" y="2829554"/>
            <a:ext cx="3128499" cy="3461982"/>
            <a:chOff x="6259896" y="2430165"/>
            <a:chExt cx="3128499" cy="3461982"/>
          </a:xfrm>
        </p:grpSpPr>
        <p:grpSp>
          <p:nvGrpSpPr>
            <p:cNvPr id="3" name="Group 2"/>
            <p:cNvGrpSpPr/>
            <p:nvPr/>
          </p:nvGrpSpPr>
          <p:grpSpPr>
            <a:xfrm rot="13560000">
              <a:off x="8511629" y="2772123"/>
              <a:ext cx="298730" cy="1454802"/>
              <a:chOff x="7530734" y="1993451"/>
              <a:chExt cx="339051" cy="1764116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9" name="Rounded Rectangle 8"/>
              <p:cNvSpPr/>
              <p:nvPr/>
            </p:nvSpPr>
            <p:spPr>
              <a:xfrm>
                <a:off x="7532168" y="2910791"/>
                <a:ext cx="337617" cy="846776"/>
              </a:xfrm>
              <a:prstGeom prst="round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rgbClr val="4F81B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7530734" y="1993451"/>
                <a:ext cx="337617" cy="846776"/>
              </a:xfrm>
              <a:prstGeom prst="round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rgbClr val="4F81B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 rot="13560000">
              <a:off x="8239978" y="2508916"/>
              <a:ext cx="298730" cy="1454802"/>
              <a:chOff x="7530734" y="1993451"/>
              <a:chExt cx="339051" cy="1764116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17" name="Rounded Rectangle 16"/>
              <p:cNvSpPr/>
              <p:nvPr/>
            </p:nvSpPr>
            <p:spPr>
              <a:xfrm>
                <a:off x="7532168" y="2910791"/>
                <a:ext cx="337617" cy="846776"/>
              </a:xfrm>
              <a:prstGeom prst="round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7530734" y="1993451"/>
                <a:ext cx="337617" cy="846776"/>
              </a:xfrm>
              <a:prstGeom prst="round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 rot="16200000">
              <a:off x="5615756" y="3074305"/>
              <a:ext cx="1829748" cy="541468"/>
              <a:chOff x="6970623" y="2540839"/>
              <a:chExt cx="2076717" cy="656593"/>
            </a:xfrm>
            <a:solidFill>
              <a:schemeClr val="accent3">
                <a:lumMod val="60000"/>
                <a:lumOff val="40000"/>
              </a:schemeClr>
            </a:solidFill>
          </p:grpSpPr>
          <p:grpSp>
            <p:nvGrpSpPr>
              <p:cNvPr id="19" name="Group 18"/>
              <p:cNvGrpSpPr/>
              <p:nvPr/>
            </p:nvGrpSpPr>
            <p:grpSpPr>
              <a:xfrm rot="13560000">
                <a:off x="7995756" y="2145849"/>
                <a:ext cx="339051" cy="1764116"/>
                <a:chOff x="7530734" y="1993451"/>
                <a:chExt cx="339051" cy="1764116"/>
              </a:xfrm>
              <a:grpFill/>
            </p:grpSpPr>
            <p:sp>
              <p:nvSpPr>
                <p:cNvPr id="20" name="Rounded Rectangle 19"/>
                <p:cNvSpPr/>
                <p:nvPr/>
              </p:nvSpPr>
              <p:spPr>
                <a:xfrm>
                  <a:off x="7532168" y="2910791"/>
                  <a:ext cx="337617" cy="846776"/>
                </a:xfrm>
                <a:prstGeom prst="round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Rounded Rectangle 20"/>
                <p:cNvSpPr/>
                <p:nvPr/>
              </p:nvSpPr>
              <p:spPr>
                <a:xfrm>
                  <a:off x="7530734" y="1993451"/>
                  <a:ext cx="337617" cy="846776"/>
                </a:xfrm>
                <a:prstGeom prst="roundRect">
                  <a:avLst/>
                </a:prstGeom>
                <a:grpFill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" name="Group 21"/>
              <p:cNvGrpSpPr/>
              <p:nvPr/>
            </p:nvGrpSpPr>
            <p:grpSpPr>
              <a:xfrm rot="13560000">
                <a:off x="7683155" y="1828307"/>
                <a:ext cx="339051" cy="1764116"/>
                <a:chOff x="7530734" y="1993451"/>
                <a:chExt cx="339051" cy="1764116"/>
              </a:xfrm>
              <a:grpFill/>
            </p:grpSpPr>
            <p:sp>
              <p:nvSpPr>
                <p:cNvPr id="23" name="Rounded Rectangle 22"/>
                <p:cNvSpPr/>
                <p:nvPr/>
              </p:nvSpPr>
              <p:spPr>
                <a:xfrm>
                  <a:off x="7532168" y="2910791"/>
                  <a:ext cx="337617" cy="846776"/>
                </a:xfrm>
                <a:prstGeom prst="round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4F81BD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ounded Rectangle 23"/>
                <p:cNvSpPr/>
                <p:nvPr/>
              </p:nvSpPr>
              <p:spPr>
                <a:xfrm>
                  <a:off x="7530734" y="1993451"/>
                  <a:ext cx="337617" cy="846776"/>
                </a:xfrm>
                <a:prstGeom prst="round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4F81BD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3" name="Group 32"/>
            <p:cNvGrpSpPr/>
            <p:nvPr/>
          </p:nvGrpSpPr>
          <p:grpSpPr>
            <a:xfrm>
              <a:off x="7193200" y="3929270"/>
              <a:ext cx="744366" cy="1962877"/>
              <a:chOff x="7052080" y="3929270"/>
              <a:chExt cx="744366" cy="1096799"/>
            </a:xfrm>
          </p:grpSpPr>
          <p:grpSp>
            <p:nvGrpSpPr>
              <p:cNvPr id="26" name="Group 25"/>
              <p:cNvGrpSpPr/>
              <p:nvPr/>
            </p:nvGrpSpPr>
            <p:grpSpPr>
              <a:xfrm>
                <a:off x="7059801" y="3929270"/>
                <a:ext cx="736645" cy="533943"/>
                <a:chOff x="7059801" y="3929270"/>
                <a:chExt cx="736645" cy="2067249"/>
              </a:xfrm>
            </p:grpSpPr>
            <p:sp>
              <p:nvSpPr>
                <p:cNvPr id="2" name="Rounded Rectangle 1"/>
                <p:cNvSpPr/>
                <p:nvPr/>
              </p:nvSpPr>
              <p:spPr>
                <a:xfrm>
                  <a:off x="7059801" y="3929270"/>
                  <a:ext cx="305483" cy="2067249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Rounded Rectangle 7"/>
                <p:cNvSpPr/>
                <p:nvPr/>
              </p:nvSpPr>
              <p:spPr>
                <a:xfrm>
                  <a:off x="7490963" y="3929270"/>
                  <a:ext cx="305483" cy="2067249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7" name="Group 26"/>
              <p:cNvGrpSpPr/>
              <p:nvPr/>
            </p:nvGrpSpPr>
            <p:grpSpPr>
              <a:xfrm>
                <a:off x="7052080" y="4492126"/>
                <a:ext cx="736645" cy="533943"/>
                <a:chOff x="7059801" y="3929270"/>
                <a:chExt cx="736645" cy="2067249"/>
              </a:xfrm>
            </p:grpSpPr>
            <p:sp>
              <p:nvSpPr>
                <p:cNvPr id="28" name="Rounded Rectangle 27"/>
                <p:cNvSpPr/>
                <p:nvPr/>
              </p:nvSpPr>
              <p:spPr>
                <a:xfrm>
                  <a:off x="7059801" y="3929270"/>
                  <a:ext cx="305483" cy="2067249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ounded Rectangle 28"/>
                <p:cNvSpPr/>
                <p:nvPr/>
              </p:nvSpPr>
              <p:spPr>
                <a:xfrm>
                  <a:off x="7490963" y="3929270"/>
                  <a:ext cx="305483" cy="2067249"/>
                </a:xfrm>
                <a:prstGeom prst="round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EAFA2780-F84B-173D-5B5E-E8AEC6DAA86C}"/>
                </a:ext>
              </a:extLst>
            </p:cNvPr>
            <p:cNvSpPr/>
            <p:nvPr/>
          </p:nvSpPr>
          <p:spPr>
            <a:xfrm rot="2561642">
              <a:off x="6452549" y="3636363"/>
              <a:ext cx="914400" cy="914400"/>
            </a:xfrm>
            <a:prstGeom prst="arc">
              <a:avLst>
                <a:gd name="adj1" fmla="val 16200000"/>
                <a:gd name="adj2" fmla="val 1777667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DFC9424C-FB05-6D99-F4AD-F8F992CEEF37}"/>
                </a:ext>
              </a:extLst>
            </p:cNvPr>
            <p:cNvSpPr/>
            <p:nvPr/>
          </p:nvSpPr>
          <p:spPr>
            <a:xfrm rot="19038358" flipH="1">
              <a:off x="7729173" y="3631430"/>
              <a:ext cx="914400" cy="914400"/>
            </a:xfrm>
            <a:prstGeom prst="arc">
              <a:avLst>
                <a:gd name="adj1" fmla="val 16200000"/>
                <a:gd name="adj2" fmla="val 1777667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35F4B9-14FE-3ABB-4153-5F41309DEDA8}"/>
                </a:ext>
              </a:extLst>
            </p:cNvPr>
            <p:cNvCxnSpPr>
              <a:cxnSpLocks/>
            </p:cNvCxnSpPr>
            <p:nvPr/>
          </p:nvCxnSpPr>
          <p:spPr>
            <a:xfrm>
              <a:off x="7296139" y="3820024"/>
              <a:ext cx="509377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4DE9F96-0108-5B6C-715B-1CC8E5859D29}"/>
                </a:ext>
              </a:extLst>
            </p:cNvPr>
            <p:cNvCxnSpPr>
              <a:cxnSpLocks/>
            </p:cNvCxnSpPr>
            <p:nvPr/>
          </p:nvCxnSpPr>
          <p:spPr>
            <a:xfrm>
              <a:off x="7280377" y="3867322"/>
              <a:ext cx="509377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EA81E17-2C15-89CE-280F-DE83588191F7}"/>
                </a:ext>
              </a:extLst>
            </p:cNvPr>
            <p:cNvCxnSpPr>
              <a:cxnSpLocks/>
            </p:cNvCxnSpPr>
            <p:nvPr/>
          </p:nvCxnSpPr>
          <p:spPr>
            <a:xfrm>
              <a:off x="8008795" y="3804771"/>
              <a:ext cx="78482" cy="7178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5B2722E-1D00-B229-3467-D73858E2AE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4021" y="3835163"/>
              <a:ext cx="60350" cy="5902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7381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39057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Antibodies are produced by B Cells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4466" y="1399784"/>
            <a:ext cx="8455067" cy="3445707"/>
          </a:xfrm>
        </p:spPr>
        <p:txBody>
          <a:bodyPr>
            <a:normAutofit/>
          </a:bodyPr>
          <a:lstStyle/>
          <a:p>
            <a:r>
              <a:rPr lang="en-US" sz="2800" dirty="0"/>
              <a:t>Antibodies are produced by lymphocytes of the </a:t>
            </a:r>
            <a:r>
              <a:rPr lang="en-US" sz="2800" b="1" dirty="0"/>
              <a:t>B cell</a:t>
            </a:r>
            <a:r>
              <a:rPr lang="en-US" sz="2800" dirty="0"/>
              <a:t> lineage</a:t>
            </a:r>
          </a:p>
          <a:p>
            <a:r>
              <a:rPr lang="en-US" sz="2800" b="1" dirty="0"/>
              <a:t>B cell receptor (BCR)</a:t>
            </a:r>
            <a:r>
              <a:rPr lang="en-US" sz="2800" dirty="0"/>
              <a:t> is the first form of the Ig expressed as a membrane form on B cell surfaces </a:t>
            </a:r>
            <a:endParaRPr lang="en-US" sz="2800" b="1" dirty="0"/>
          </a:p>
          <a:p>
            <a:r>
              <a:rPr lang="en-US" sz="2800" b="1" dirty="0"/>
              <a:t>Antibody</a:t>
            </a:r>
            <a:r>
              <a:rPr lang="en-US" sz="2800" dirty="0"/>
              <a:t> is the soluble secreted form of Ig, produced by B cells differentiated into </a:t>
            </a:r>
            <a:r>
              <a:rPr lang="en-US" sz="2800" b="1" dirty="0"/>
              <a:t>plasma cells</a:t>
            </a:r>
          </a:p>
        </p:txBody>
      </p:sp>
      <p:pic>
        <p:nvPicPr>
          <p:cNvPr id="3" name="droppedImage.tiff" descr="droppedImage.tiff">
            <a:extLst>
              <a:ext uri="{FF2B5EF4-FFF2-40B4-BE49-F238E27FC236}">
                <a16:creationId xmlns:a16="http://schemas.microsoft.com/office/drawing/2014/main" id="{BC4E6435-6D95-ECDB-7786-CDC9F372E5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3" t="4394" r="8501" b="3108"/>
          <a:stretch>
            <a:fillRect/>
          </a:stretch>
        </p:blipFill>
        <p:spPr>
          <a:xfrm>
            <a:off x="2228447" y="5102275"/>
            <a:ext cx="1316419" cy="12838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1" h="21503" extrusionOk="0">
                <a:moveTo>
                  <a:pt x="12251" y="1"/>
                </a:moveTo>
                <a:cubicBezTo>
                  <a:pt x="12164" y="6"/>
                  <a:pt x="11988" y="80"/>
                  <a:pt x="11694" y="217"/>
                </a:cubicBezTo>
                <a:cubicBezTo>
                  <a:pt x="10994" y="543"/>
                  <a:pt x="10774" y="1522"/>
                  <a:pt x="11205" y="2387"/>
                </a:cubicBezTo>
                <a:cubicBezTo>
                  <a:pt x="11393" y="2765"/>
                  <a:pt x="11676" y="3225"/>
                  <a:pt x="11838" y="3408"/>
                </a:cubicBezTo>
                <a:cubicBezTo>
                  <a:pt x="12201" y="3818"/>
                  <a:pt x="12137" y="4417"/>
                  <a:pt x="11704" y="4665"/>
                </a:cubicBezTo>
                <a:cubicBezTo>
                  <a:pt x="11526" y="4767"/>
                  <a:pt x="11426" y="4974"/>
                  <a:pt x="11483" y="5127"/>
                </a:cubicBezTo>
                <a:cubicBezTo>
                  <a:pt x="11610" y="5465"/>
                  <a:pt x="11251" y="5740"/>
                  <a:pt x="11070" y="5441"/>
                </a:cubicBezTo>
                <a:cubicBezTo>
                  <a:pt x="10769" y="4942"/>
                  <a:pt x="8232" y="6244"/>
                  <a:pt x="6982" y="7542"/>
                </a:cubicBezTo>
                <a:cubicBezTo>
                  <a:pt x="6253" y="8298"/>
                  <a:pt x="6006" y="8459"/>
                  <a:pt x="5916" y="8220"/>
                </a:cubicBezTo>
                <a:cubicBezTo>
                  <a:pt x="5822" y="7968"/>
                  <a:pt x="5695" y="7944"/>
                  <a:pt x="5225" y="8112"/>
                </a:cubicBezTo>
                <a:cubicBezTo>
                  <a:pt x="4582" y="8341"/>
                  <a:pt x="3955" y="8022"/>
                  <a:pt x="4131" y="7552"/>
                </a:cubicBezTo>
                <a:cubicBezTo>
                  <a:pt x="4184" y="7411"/>
                  <a:pt x="4104" y="7193"/>
                  <a:pt x="3948" y="7061"/>
                </a:cubicBezTo>
                <a:cubicBezTo>
                  <a:pt x="3793" y="6929"/>
                  <a:pt x="3704" y="6745"/>
                  <a:pt x="3756" y="6659"/>
                </a:cubicBezTo>
                <a:cubicBezTo>
                  <a:pt x="3809" y="6572"/>
                  <a:pt x="3714" y="6450"/>
                  <a:pt x="3545" y="6384"/>
                </a:cubicBezTo>
                <a:cubicBezTo>
                  <a:pt x="3376" y="6317"/>
                  <a:pt x="3289" y="6176"/>
                  <a:pt x="3353" y="6069"/>
                </a:cubicBezTo>
                <a:cubicBezTo>
                  <a:pt x="3533" y="5771"/>
                  <a:pt x="2174" y="5585"/>
                  <a:pt x="1702" y="5843"/>
                </a:cubicBezTo>
                <a:cubicBezTo>
                  <a:pt x="1172" y="6134"/>
                  <a:pt x="1167" y="6802"/>
                  <a:pt x="1693" y="7238"/>
                </a:cubicBezTo>
                <a:cubicBezTo>
                  <a:pt x="2186" y="7646"/>
                  <a:pt x="2013" y="8303"/>
                  <a:pt x="1213" y="9064"/>
                </a:cubicBezTo>
                <a:cubicBezTo>
                  <a:pt x="790" y="9467"/>
                  <a:pt x="657" y="9503"/>
                  <a:pt x="406" y="9290"/>
                </a:cubicBezTo>
                <a:cubicBezTo>
                  <a:pt x="71" y="9006"/>
                  <a:pt x="68" y="9010"/>
                  <a:pt x="3" y="9634"/>
                </a:cubicBezTo>
                <a:cubicBezTo>
                  <a:pt x="-22" y="9878"/>
                  <a:pt x="86" y="10126"/>
                  <a:pt x="234" y="10184"/>
                </a:cubicBezTo>
                <a:cubicBezTo>
                  <a:pt x="382" y="10242"/>
                  <a:pt x="502" y="10419"/>
                  <a:pt x="502" y="10577"/>
                </a:cubicBezTo>
                <a:cubicBezTo>
                  <a:pt x="502" y="11010"/>
                  <a:pt x="1281" y="11127"/>
                  <a:pt x="1808" y="10773"/>
                </a:cubicBezTo>
                <a:cubicBezTo>
                  <a:pt x="2065" y="10601"/>
                  <a:pt x="2402" y="10506"/>
                  <a:pt x="2557" y="10567"/>
                </a:cubicBezTo>
                <a:cubicBezTo>
                  <a:pt x="2711" y="10628"/>
                  <a:pt x="2893" y="10529"/>
                  <a:pt x="2960" y="10351"/>
                </a:cubicBezTo>
                <a:cubicBezTo>
                  <a:pt x="3060" y="10083"/>
                  <a:pt x="3194" y="10136"/>
                  <a:pt x="3728" y="10665"/>
                </a:cubicBezTo>
                <a:cubicBezTo>
                  <a:pt x="4472" y="11403"/>
                  <a:pt x="4649" y="11458"/>
                  <a:pt x="4649" y="10930"/>
                </a:cubicBezTo>
                <a:cubicBezTo>
                  <a:pt x="4649" y="10722"/>
                  <a:pt x="4785" y="10439"/>
                  <a:pt x="4947" y="10302"/>
                </a:cubicBezTo>
                <a:cubicBezTo>
                  <a:pt x="5328" y="9978"/>
                  <a:pt x="5378" y="10153"/>
                  <a:pt x="5503" y="12128"/>
                </a:cubicBezTo>
                <a:cubicBezTo>
                  <a:pt x="5673" y="14809"/>
                  <a:pt x="6275" y="15638"/>
                  <a:pt x="8373" y="16066"/>
                </a:cubicBezTo>
                <a:lnTo>
                  <a:pt x="9477" y="16292"/>
                </a:lnTo>
                <a:lnTo>
                  <a:pt x="9410" y="17284"/>
                </a:lnTo>
                <a:cubicBezTo>
                  <a:pt x="9340" y="18453"/>
                  <a:pt x="9288" y="18590"/>
                  <a:pt x="8824" y="18590"/>
                </a:cubicBezTo>
                <a:cubicBezTo>
                  <a:pt x="8632" y="18590"/>
                  <a:pt x="8264" y="18813"/>
                  <a:pt x="8009" y="19091"/>
                </a:cubicBezTo>
                <a:cubicBezTo>
                  <a:pt x="7753" y="19369"/>
                  <a:pt x="7402" y="19601"/>
                  <a:pt x="7231" y="19601"/>
                </a:cubicBezTo>
                <a:cubicBezTo>
                  <a:pt x="7034" y="19601"/>
                  <a:pt x="6924" y="19773"/>
                  <a:pt x="6924" y="20083"/>
                </a:cubicBezTo>
                <a:cubicBezTo>
                  <a:pt x="6924" y="20351"/>
                  <a:pt x="7007" y="20563"/>
                  <a:pt x="7116" y="20544"/>
                </a:cubicBezTo>
                <a:cubicBezTo>
                  <a:pt x="7225" y="20526"/>
                  <a:pt x="7296" y="20713"/>
                  <a:pt x="7269" y="20966"/>
                </a:cubicBezTo>
                <a:cubicBezTo>
                  <a:pt x="7229" y="21350"/>
                  <a:pt x="7298" y="21424"/>
                  <a:pt x="7701" y="21369"/>
                </a:cubicBezTo>
                <a:cubicBezTo>
                  <a:pt x="7968" y="21332"/>
                  <a:pt x="8250" y="21230"/>
                  <a:pt x="8325" y="21153"/>
                </a:cubicBezTo>
                <a:cubicBezTo>
                  <a:pt x="8401" y="21076"/>
                  <a:pt x="8594" y="21120"/>
                  <a:pt x="8748" y="21251"/>
                </a:cubicBezTo>
                <a:cubicBezTo>
                  <a:pt x="9093" y="21545"/>
                  <a:pt x="9437" y="21104"/>
                  <a:pt x="9276" y="20574"/>
                </a:cubicBezTo>
                <a:cubicBezTo>
                  <a:pt x="9210" y="20359"/>
                  <a:pt x="9331" y="20147"/>
                  <a:pt x="9592" y="20004"/>
                </a:cubicBezTo>
                <a:cubicBezTo>
                  <a:pt x="10195" y="19674"/>
                  <a:pt x="10643" y="20098"/>
                  <a:pt x="10495" y="20858"/>
                </a:cubicBezTo>
                <a:cubicBezTo>
                  <a:pt x="10433" y="21176"/>
                  <a:pt x="10453" y="21397"/>
                  <a:pt x="10533" y="21349"/>
                </a:cubicBezTo>
                <a:cubicBezTo>
                  <a:pt x="10613" y="21302"/>
                  <a:pt x="10853" y="21341"/>
                  <a:pt x="11070" y="21428"/>
                </a:cubicBezTo>
                <a:cubicBezTo>
                  <a:pt x="11489" y="21595"/>
                  <a:pt x="12340" y="21467"/>
                  <a:pt x="12625" y="21202"/>
                </a:cubicBezTo>
                <a:cubicBezTo>
                  <a:pt x="12826" y="21016"/>
                  <a:pt x="11452" y="18669"/>
                  <a:pt x="11051" y="18511"/>
                </a:cubicBezTo>
                <a:cubicBezTo>
                  <a:pt x="10858" y="18435"/>
                  <a:pt x="10820" y="18206"/>
                  <a:pt x="10907" y="17736"/>
                </a:cubicBezTo>
                <a:cubicBezTo>
                  <a:pt x="11095" y="16722"/>
                  <a:pt x="11336" y="16361"/>
                  <a:pt x="11838" y="16361"/>
                </a:cubicBezTo>
                <a:cubicBezTo>
                  <a:pt x="12576" y="16361"/>
                  <a:pt x="13594" y="15946"/>
                  <a:pt x="14161" y="15408"/>
                </a:cubicBezTo>
                <a:cubicBezTo>
                  <a:pt x="14489" y="15097"/>
                  <a:pt x="14794" y="14968"/>
                  <a:pt x="14958" y="15065"/>
                </a:cubicBezTo>
                <a:cubicBezTo>
                  <a:pt x="15103" y="15150"/>
                  <a:pt x="15160" y="15143"/>
                  <a:pt x="15083" y="15055"/>
                </a:cubicBezTo>
                <a:cubicBezTo>
                  <a:pt x="15005" y="14967"/>
                  <a:pt x="15067" y="14709"/>
                  <a:pt x="15227" y="14475"/>
                </a:cubicBezTo>
                <a:cubicBezTo>
                  <a:pt x="15555" y="13996"/>
                  <a:pt x="16676" y="13829"/>
                  <a:pt x="16830" y="14240"/>
                </a:cubicBezTo>
                <a:cubicBezTo>
                  <a:pt x="16883" y="14382"/>
                  <a:pt x="17083" y="14460"/>
                  <a:pt x="17281" y="14407"/>
                </a:cubicBezTo>
                <a:cubicBezTo>
                  <a:pt x="17731" y="14286"/>
                  <a:pt x="17995" y="14675"/>
                  <a:pt x="17703" y="15035"/>
                </a:cubicBezTo>
                <a:cubicBezTo>
                  <a:pt x="17535" y="15243"/>
                  <a:pt x="17575" y="15325"/>
                  <a:pt x="17885" y="15408"/>
                </a:cubicBezTo>
                <a:cubicBezTo>
                  <a:pt x="18107" y="15468"/>
                  <a:pt x="18386" y="15791"/>
                  <a:pt x="18500" y="16125"/>
                </a:cubicBezTo>
                <a:cubicBezTo>
                  <a:pt x="18614" y="16460"/>
                  <a:pt x="18837" y="16788"/>
                  <a:pt x="18999" y="16852"/>
                </a:cubicBezTo>
                <a:cubicBezTo>
                  <a:pt x="19162" y="16916"/>
                  <a:pt x="19231" y="17075"/>
                  <a:pt x="19152" y="17205"/>
                </a:cubicBezTo>
                <a:cubicBezTo>
                  <a:pt x="19055" y="17367"/>
                  <a:pt x="19096" y="17378"/>
                  <a:pt x="19287" y="17254"/>
                </a:cubicBezTo>
                <a:cubicBezTo>
                  <a:pt x="19553" y="17082"/>
                  <a:pt x="19649" y="17055"/>
                  <a:pt x="20036" y="16999"/>
                </a:cubicBezTo>
                <a:cubicBezTo>
                  <a:pt x="20249" y="16968"/>
                  <a:pt x="20210" y="15349"/>
                  <a:pt x="19988" y="14986"/>
                </a:cubicBezTo>
                <a:cubicBezTo>
                  <a:pt x="19896" y="14837"/>
                  <a:pt x="19930" y="14602"/>
                  <a:pt x="20064" y="14436"/>
                </a:cubicBezTo>
                <a:cubicBezTo>
                  <a:pt x="20195" y="14276"/>
                  <a:pt x="20251" y="14011"/>
                  <a:pt x="20189" y="13847"/>
                </a:cubicBezTo>
                <a:cubicBezTo>
                  <a:pt x="20014" y="13380"/>
                  <a:pt x="20397" y="13282"/>
                  <a:pt x="20947" y="13650"/>
                </a:cubicBezTo>
                <a:lnTo>
                  <a:pt x="21447" y="13984"/>
                </a:lnTo>
                <a:lnTo>
                  <a:pt x="21456" y="13307"/>
                </a:lnTo>
                <a:cubicBezTo>
                  <a:pt x="21464" y="12933"/>
                  <a:pt x="21507" y="12474"/>
                  <a:pt x="21543" y="12285"/>
                </a:cubicBezTo>
                <a:cubicBezTo>
                  <a:pt x="21578" y="12097"/>
                  <a:pt x="21496" y="11788"/>
                  <a:pt x="21360" y="11598"/>
                </a:cubicBezTo>
                <a:cubicBezTo>
                  <a:pt x="21130" y="11276"/>
                  <a:pt x="21061" y="11271"/>
                  <a:pt x="20458" y="11578"/>
                </a:cubicBezTo>
                <a:cubicBezTo>
                  <a:pt x="20102" y="11760"/>
                  <a:pt x="19735" y="11859"/>
                  <a:pt x="19632" y="11794"/>
                </a:cubicBezTo>
                <a:cubicBezTo>
                  <a:pt x="19530" y="11730"/>
                  <a:pt x="19289" y="11810"/>
                  <a:pt x="19104" y="11981"/>
                </a:cubicBezTo>
                <a:cubicBezTo>
                  <a:pt x="18715" y="12342"/>
                  <a:pt x="17729" y="12565"/>
                  <a:pt x="17415" y="12364"/>
                </a:cubicBezTo>
                <a:cubicBezTo>
                  <a:pt x="17296" y="12288"/>
                  <a:pt x="17068" y="12229"/>
                  <a:pt x="16916" y="12227"/>
                </a:cubicBezTo>
                <a:cubicBezTo>
                  <a:pt x="16705" y="12222"/>
                  <a:pt x="16629" y="11830"/>
                  <a:pt x="16599" y="10577"/>
                </a:cubicBezTo>
                <a:cubicBezTo>
                  <a:pt x="16554" y="8685"/>
                  <a:pt x="16312" y="8203"/>
                  <a:pt x="14843" y="7081"/>
                </a:cubicBezTo>
                <a:cubicBezTo>
                  <a:pt x="13939" y="6391"/>
                  <a:pt x="13938" y="6378"/>
                  <a:pt x="14334" y="6001"/>
                </a:cubicBezTo>
                <a:cubicBezTo>
                  <a:pt x="14796" y="5561"/>
                  <a:pt x="14655" y="5163"/>
                  <a:pt x="14094" y="5313"/>
                </a:cubicBezTo>
                <a:cubicBezTo>
                  <a:pt x="13625" y="5439"/>
                  <a:pt x="13431" y="5022"/>
                  <a:pt x="13710" y="4488"/>
                </a:cubicBezTo>
                <a:cubicBezTo>
                  <a:pt x="13850" y="4220"/>
                  <a:pt x="14101" y="4110"/>
                  <a:pt x="14516" y="4135"/>
                </a:cubicBezTo>
                <a:cubicBezTo>
                  <a:pt x="15093" y="4170"/>
                  <a:pt x="15689" y="3762"/>
                  <a:pt x="15687" y="3330"/>
                </a:cubicBezTo>
                <a:cubicBezTo>
                  <a:pt x="15687" y="3218"/>
                  <a:pt x="16025" y="3027"/>
                  <a:pt x="16436" y="2907"/>
                </a:cubicBezTo>
                <a:cubicBezTo>
                  <a:pt x="17104" y="2713"/>
                  <a:pt x="17131" y="2673"/>
                  <a:pt x="16724" y="2564"/>
                </a:cubicBezTo>
                <a:cubicBezTo>
                  <a:pt x="16473" y="2496"/>
                  <a:pt x="16316" y="2353"/>
                  <a:pt x="16378" y="2249"/>
                </a:cubicBezTo>
                <a:cubicBezTo>
                  <a:pt x="16573" y="1927"/>
                  <a:pt x="15764" y="1337"/>
                  <a:pt x="15371" y="1513"/>
                </a:cubicBezTo>
                <a:cubicBezTo>
                  <a:pt x="15176" y="1599"/>
                  <a:pt x="14931" y="1658"/>
                  <a:pt x="14814" y="1640"/>
                </a:cubicBezTo>
                <a:cubicBezTo>
                  <a:pt x="14697" y="1623"/>
                  <a:pt x="14387" y="1835"/>
                  <a:pt x="14132" y="2112"/>
                </a:cubicBezTo>
                <a:cubicBezTo>
                  <a:pt x="13779" y="2497"/>
                  <a:pt x="13615" y="2558"/>
                  <a:pt x="13413" y="2387"/>
                </a:cubicBezTo>
                <a:cubicBezTo>
                  <a:pt x="13102" y="2123"/>
                  <a:pt x="13062" y="1486"/>
                  <a:pt x="13345" y="1307"/>
                </a:cubicBezTo>
                <a:cubicBezTo>
                  <a:pt x="13454" y="1238"/>
                  <a:pt x="13537" y="1039"/>
                  <a:pt x="13537" y="865"/>
                </a:cubicBezTo>
                <a:cubicBezTo>
                  <a:pt x="13537" y="626"/>
                  <a:pt x="13475" y="600"/>
                  <a:pt x="13278" y="766"/>
                </a:cubicBezTo>
                <a:cubicBezTo>
                  <a:pt x="12976" y="1023"/>
                  <a:pt x="12067" y="497"/>
                  <a:pt x="12261" y="177"/>
                </a:cubicBezTo>
                <a:cubicBezTo>
                  <a:pt x="12335" y="54"/>
                  <a:pt x="12339" y="-5"/>
                  <a:pt x="12251" y="1"/>
                </a:cubicBezTo>
                <a:close/>
                <a:moveTo>
                  <a:pt x="20515" y="10577"/>
                </a:moveTo>
                <a:cubicBezTo>
                  <a:pt x="20480" y="10593"/>
                  <a:pt x="20458" y="10636"/>
                  <a:pt x="20458" y="10695"/>
                </a:cubicBezTo>
                <a:cubicBezTo>
                  <a:pt x="20458" y="10812"/>
                  <a:pt x="20541" y="10901"/>
                  <a:pt x="20650" y="10901"/>
                </a:cubicBezTo>
                <a:cubicBezTo>
                  <a:pt x="20759" y="10901"/>
                  <a:pt x="20851" y="10861"/>
                  <a:pt x="20851" y="10812"/>
                </a:cubicBezTo>
                <a:cubicBezTo>
                  <a:pt x="20851" y="10763"/>
                  <a:pt x="20759" y="10675"/>
                  <a:pt x="20650" y="10606"/>
                </a:cubicBezTo>
                <a:cubicBezTo>
                  <a:pt x="20596" y="10572"/>
                  <a:pt x="20551" y="10561"/>
                  <a:pt x="20515" y="10577"/>
                </a:cubicBezTo>
                <a:close/>
              </a:path>
            </a:pathLst>
          </a:custGeom>
          <a:ln w="12700" cap="flat">
            <a:noFill/>
            <a:miter lim="400000"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F873C9-D577-6FE8-840A-54BED97AF727}"/>
              </a:ext>
            </a:extLst>
          </p:cNvPr>
          <p:cNvSpPr txBox="1"/>
          <p:nvPr/>
        </p:nvSpPr>
        <p:spPr>
          <a:xfrm>
            <a:off x="2228447" y="4628410"/>
            <a:ext cx="1822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B cells – BCR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9F84880-C9FD-5D40-CBCF-255E5C6EE89F}"/>
              </a:ext>
            </a:extLst>
          </p:cNvPr>
          <p:cNvSpPr txBox="1"/>
          <p:nvPr/>
        </p:nvSpPr>
        <p:spPr>
          <a:xfrm>
            <a:off x="4597052" y="4656546"/>
            <a:ext cx="34196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/>
              <a:t>	Plasma cells - antibody</a:t>
            </a:r>
          </a:p>
        </p:txBody>
      </p:sp>
      <p:sp>
        <p:nvSpPr>
          <p:cNvPr id="138" name="Right Arrow 137">
            <a:extLst>
              <a:ext uri="{FF2B5EF4-FFF2-40B4-BE49-F238E27FC236}">
                <a16:creationId xmlns:a16="http://schemas.microsoft.com/office/drawing/2014/main" id="{8DE8F166-207A-5786-7C10-6871B862E7D7}"/>
              </a:ext>
            </a:extLst>
          </p:cNvPr>
          <p:cNvSpPr/>
          <p:nvPr/>
        </p:nvSpPr>
        <p:spPr>
          <a:xfrm>
            <a:off x="3981653" y="5660928"/>
            <a:ext cx="663879" cy="23799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C787A560-83FC-C0DB-1017-A545306036E0}"/>
              </a:ext>
            </a:extLst>
          </p:cNvPr>
          <p:cNvGrpSpPr/>
          <p:nvPr/>
        </p:nvGrpSpPr>
        <p:grpSpPr>
          <a:xfrm rot="20621742">
            <a:off x="6087151" y="5264301"/>
            <a:ext cx="1702736" cy="1007402"/>
            <a:chOff x="7271782" y="4001231"/>
            <a:chExt cx="1622496" cy="731982"/>
          </a:xfrm>
        </p:grpSpPr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C3BC6B65-78FD-7102-4859-B033F2C49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36149" y="4349413"/>
              <a:ext cx="284786" cy="284786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3CA8B2F3-B11F-E044-B23E-9BEAF2974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6240598">
              <a:off x="7951911" y="4078666"/>
              <a:ext cx="284786" cy="284786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9D3DC2D7-8A85-99DC-2C7E-05A642CE2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238724">
              <a:off x="7779281" y="4448427"/>
              <a:ext cx="284786" cy="284786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E5948F36-DE60-D297-08E1-B7BE06FFB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6248859">
              <a:off x="7271782" y="4417142"/>
              <a:ext cx="284786" cy="284786"/>
            </a:xfrm>
            <a:prstGeom prst="rect">
              <a:avLst/>
            </a:prstGeom>
          </p:spPr>
        </p:pic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9DB32AB2-9C60-6C94-60CF-12E1ECE34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8993486">
              <a:off x="8609492" y="4001231"/>
              <a:ext cx="284786" cy="284786"/>
            </a:xfrm>
            <a:prstGeom prst="rect">
              <a:avLst/>
            </a:prstGeom>
          </p:spPr>
        </p:pic>
      </p:grpSp>
      <p:pic>
        <p:nvPicPr>
          <p:cNvPr id="145" name="Picture 144">
            <a:extLst>
              <a:ext uri="{FF2B5EF4-FFF2-40B4-BE49-F238E27FC236}">
                <a16:creationId xmlns:a16="http://schemas.microsoft.com/office/drawing/2014/main" id="{AFA11B7F-9BE1-1BAF-8293-B134BAF2C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319" y="5294462"/>
            <a:ext cx="1089738" cy="89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22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99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cs typeface="Arial" charset="0"/>
              </a:rPr>
              <a:t>B cells: 3 major functions </a:t>
            </a:r>
            <a:br>
              <a:rPr lang="en-US" b="1" dirty="0">
                <a:cs typeface="Arial" charset="0"/>
              </a:rPr>
            </a:b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6FDC3F-5DF8-A348-924B-BFE0781A5A7A}"/>
              </a:ext>
            </a:extLst>
          </p:cNvPr>
          <p:cNvSpPr txBox="1"/>
          <p:nvPr/>
        </p:nvSpPr>
        <p:spPr>
          <a:xfrm>
            <a:off x="358644" y="1224166"/>
            <a:ext cx="36388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latin typeface="+mn-lt"/>
                <a:ea typeface="Arial" pitchFamily="-102" charset="0"/>
                <a:cs typeface="Arial" pitchFamily="-102" charset="0"/>
              </a:rPr>
              <a:t>1. Antibody production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29ADD1-E490-E14B-93C7-F8BC39F460A0}"/>
              </a:ext>
            </a:extLst>
          </p:cNvPr>
          <p:cNvSpPr txBox="1"/>
          <p:nvPr/>
        </p:nvSpPr>
        <p:spPr>
          <a:xfrm>
            <a:off x="2178050" y="5728251"/>
            <a:ext cx="37045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 eaLnBrk="1" hangingPunct="1">
              <a:defRPr/>
            </a:pPr>
            <a:r>
              <a:rPr lang="en-US" sz="2800" b="1" dirty="0">
                <a:latin typeface="+mn-lt"/>
                <a:ea typeface="Arial" pitchFamily="-102" charset="0"/>
                <a:cs typeface="Arial" pitchFamily="-102" charset="0"/>
              </a:rPr>
              <a:t>3. Antigen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00C6F2-B6DB-A34C-944D-CD35E3E9B1AE}"/>
              </a:ext>
            </a:extLst>
          </p:cNvPr>
          <p:cNvSpPr txBox="1"/>
          <p:nvPr/>
        </p:nvSpPr>
        <p:spPr>
          <a:xfrm>
            <a:off x="5712105" y="1629983"/>
            <a:ext cx="33151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 eaLnBrk="1" hangingPunct="1">
              <a:defRPr/>
            </a:pPr>
            <a:r>
              <a:rPr lang="en-US" sz="2800" b="1" dirty="0">
                <a:latin typeface="+mn-lt"/>
                <a:ea typeface="Arial" pitchFamily="-102" charset="0"/>
                <a:cs typeface="Arial" pitchFamily="-102" charset="0"/>
              </a:rPr>
              <a:t>2. Cytokine secretion</a:t>
            </a:r>
          </a:p>
        </p:txBody>
      </p:sp>
      <p:pic>
        <p:nvPicPr>
          <p:cNvPr id="8" name="Picture 9" descr="B cell functions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24" t="14763" r="31084" b="40286"/>
          <a:stretch>
            <a:fillRect/>
          </a:stretch>
        </p:blipFill>
        <p:spPr bwMode="auto">
          <a:xfrm>
            <a:off x="1246641" y="1485776"/>
            <a:ext cx="6123042" cy="4432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914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179286"/>
            <a:ext cx="8229600" cy="517071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lvl="0" indent="-514350">
              <a:buFont typeface="+mj-lt"/>
              <a:buAutoNum type="arabicPeriod"/>
            </a:pPr>
            <a:r>
              <a:rPr lang="en-US" dirty="0"/>
              <a:t>Intro:  </a:t>
            </a:r>
            <a:r>
              <a:rPr lang="en-US" dirty="0">
                <a:latin typeface="Zapf Dingbats"/>
                <a:ea typeface="Zapf Dingbats"/>
                <a:cs typeface="Zapf Dingbats"/>
                <a:sym typeface="Zapf Dingbats"/>
              </a:rPr>
              <a:t>✔ </a:t>
            </a:r>
            <a:r>
              <a:rPr lang="en-US" sz="2600" dirty="0">
                <a:solidFill>
                  <a:prstClr val="black"/>
                </a:solidFill>
              </a:rPr>
              <a:t>Describe the structural components that make up an antibody molecule and the function of each part</a:t>
            </a:r>
            <a:endParaRPr lang="en-US" sz="2600" dirty="0">
              <a:latin typeface="Zapf Dingbats"/>
              <a:ea typeface="Zapf Dingbats"/>
              <a:cs typeface="Zapf Dingbats"/>
              <a:sym typeface="Zapf Dingbats"/>
            </a:endParaRP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 cell development: </a:t>
            </a:r>
            <a:r>
              <a:rPr lang="en-US" sz="2800" dirty="0">
                <a:latin typeface="Zapf Dingbats"/>
                <a:ea typeface="Zapf Dingbats"/>
                <a:cs typeface="Zapf Dingbats"/>
                <a:sym typeface="Zapf Dingbats"/>
              </a:rPr>
              <a:t> </a:t>
            </a:r>
            <a:r>
              <a:rPr lang="en-US" sz="2600" dirty="0"/>
              <a:t>Explain the role of B cell development </a:t>
            </a:r>
            <a:r>
              <a:rPr lang="en-US" sz="2600"/>
              <a:t>in the generation </a:t>
            </a:r>
            <a:r>
              <a:rPr lang="en-US" sz="2600" dirty="0"/>
              <a:t>of the antibody repertoire and describe the underlying molecular mechanisms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 cell activation: </a:t>
            </a:r>
            <a:r>
              <a:rPr lang="en-US" sz="2600" dirty="0"/>
              <a:t>Describe the signals that drive clonal B cell responses and differentiation into antibody-secreting cells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Germinal centre:  </a:t>
            </a:r>
            <a:r>
              <a:rPr lang="en-US" sz="2600" dirty="0">
                <a:solidFill>
                  <a:prstClr val="black"/>
                </a:solidFill>
              </a:rPr>
              <a:t>Explain what germinal </a:t>
            </a:r>
            <a:r>
              <a:rPr lang="en-US" sz="2600" dirty="0" err="1">
                <a:solidFill>
                  <a:prstClr val="black"/>
                </a:solidFill>
              </a:rPr>
              <a:t>centres</a:t>
            </a:r>
            <a:r>
              <a:rPr lang="en-US" sz="2600" dirty="0">
                <a:solidFill>
                  <a:prstClr val="black"/>
                </a:solidFill>
              </a:rPr>
              <a:t> are and how they improve antibody affinity</a:t>
            </a:r>
          </a:p>
          <a:p>
            <a:pPr marL="514350" indent="-514350">
              <a:buFont typeface="+mj-lt"/>
              <a:buAutoNum type="arabicPeriod"/>
            </a:pPr>
            <a:endParaRPr lang="en-US" sz="2300" dirty="0">
              <a:solidFill>
                <a:prstClr val="black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Antibody recognition of pathogens: </a:t>
            </a:r>
            <a:r>
              <a:rPr lang="en-US" sz="2600" dirty="0">
                <a:solidFill>
                  <a:prstClr val="black"/>
                </a:solidFill>
              </a:rPr>
              <a:t>Explain why multi-component assembly is a critical factor in producing effective antibodies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 startAt="6"/>
            </a:pPr>
            <a:r>
              <a:rPr lang="en-US" dirty="0"/>
              <a:t>Antibody effector function and memory</a:t>
            </a:r>
            <a:r>
              <a:rPr lang="en-US" sz="2300" dirty="0"/>
              <a:t>: </a:t>
            </a:r>
            <a:r>
              <a:rPr lang="en-US" sz="2600" dirty="0">
                <a:solidFill>
                  <a:prstClr val="black"/>
                </a:solidFill>
              </a:rPr>
              <a:t>Explain how antibody responses protect from pathogens</a:t>
            </a:r>
          </a:p>
          <a:p>
            <a:pPr marL="514350" indent="-514350">
              <a:buFont typeface="+mj-lt"/>
              <a:buAutoNum type="arabicPeriod" startAt="6"/>
            </a:pPr>
            <a:endParaRPr lang="en-US" dirty="0"/>
          </a:p>
          <a:p>
            <a:pPr marL="514350" indent="-514350">
              <a:buFont typeface="+mj-lt"/>
              <a:buAutoNum type="arabicPeriod" startAt="6"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80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2610970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7D456CC-0BF7-AE49-B35D-2C62767C19D0}">
  <we:reference id="wa200006038" version="1.0.0.3" store="en-US" storeType="OMEX"/>
  <we:alternateReferences>
    <we:reference id="WA200006038" version="1.0.0.3" store="" storeType="OMEX"/>
  </we:alternateReferences>
  <we:properties>
    <we:property name="pptx_export_from_biorender" value="fals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28740</TotalTime>
  <Words>424</Words>
  <Application>Microsoft Macintosh PowerPoint</Application>
  <PresentationFormat>On-screen Show (4:3)</PresentationFormat>
  <Paragraphs>80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Zapf Dingbats</vt:lpstr>
      <vt:lpstr>Arial</vt:lpstr>
      <vt:lpstr>Calibri</vt:lpstr>
      <vt:lpstr>Wingdings</vt:lpstr>
      <vt:lpstr>Office Theme</vt:lpstr>
      <vt:lpstr>PowerPoint Presentation</vt:lpstr>
      <vt:lpstr>B cell development and B cell response a.k.a. B cells and antibodies </vt:lpstr>
      <vt:lpstr>B cells and antibodies</vt:lpstr>
      <vt:lpstr>B cells and antibodies   Introduction  Why is humoral immunity important?</vt:lpstr>
      <vt:lpstr>Why is humoral immunity important?</vt:lpstr>
      <vt:lpstr>PowerPoint Presentation</vt:lpstr>
      <vt:lpstr>3. Antibodies as new therapeutics – “Biologicals”</vt:lpstr>
      <vt:lpstr>PowerPoint Presentation</vt:lpstr>
      <vt:lpstr>What are the structural components of an antibody?</vt:lpstr>
      <vt:lpstr>Antibodies are produced by B Cells</vt:lpstr>
      <vt:lpstr>B cells: 3 major functions  </vt:lpstr>
      <vt:lpstr>Learning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</dc:creator>
  <cp:lastModifiedBy>Tolar, Pavel</cp:lastModifiedBy>
  <cp:revision>129</cp:revision>
  <dcterms:created xsi:type="dcterms:W3CDTF">2019-07-29T08:27:17Z</dcterms:created>
  <dcterms:modified xsi:type="dcterms:W3CDTF">2025-09-29T12:54:15Z</dcterms:modified>
</cp:coreProperties>
</file>