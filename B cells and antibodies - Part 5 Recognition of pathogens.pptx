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9" r:id="rId2"/>
    <p:sldId id="346" r:id="rId3"/>
    <p:sldId id="340" r:id="rId4"/>
    <p:sldId id="303" r:id="rId5"/>
    <p:sldId id="305" r:id="rId6"/>
    <p:sldId id="308" r:id="rId7"/>
    <p:sldId id="306" r:id="rId8"/>
    <p:sldId id="311" r:id="rId9"/>
    <p:sldId id="347" r:id="rId10"/>
    <p:sldId id="313" r:id="rId11"/>
    <p:sldId id="309" r:id="rId12"/>
    <p:sldId id="323" r:id="rId13"/>
    <p:sldId id="324" r:id="rId14"/>
    <p:sldId id="344" r:id="rId15"/>
    <p:sldId id="30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3">
          <p15:clr>
            <a:srgbClr val="A4A3A4"/>
          </p15:clr>
        </p15:guide>
        <p15:guide id="2" pos="529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D38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 snapToObjects="1" showGuides="1">
      <p:cViewPr varScale="1">
        <p:scale>
          <a:sx n="121" d="100"/>
          <a:sy n="121" d="100"/>
        </p:scale>
        <p:origin x="1904" y="168"/>
      </p:cViewPr>
      <p:guideLst>
        <p:guide orient="horz" pos="1463"/>
        <p:guide pos="529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90169-F027-494E-A738-C744A3791A2D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25BC4-8EF5-EC44-828B-812FDB8609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51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25BC4-8EF5-EC44-828B-812FDB8609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63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25BC4-8EF5-EC44-828B-812FDB86090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565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8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2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19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79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44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6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8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01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28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25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68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7E2AC-4FFB-6F4C-897A-AEBEBDDC4DC2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1D001-D807-5D47-A7A7-FF6E3A26E8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94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23" y="2836661"/>
            <a:ext cx="8812103" cy="1143000"/>
          </a:xfrm>
        </p:spPr>
        <p:txBody>
          <a:bodyPr>
            <a:normAutofit fontScale="90000"/>
          </a:bodyPr>
          <a:lstStyle/>
          <a:p>
            <a:pPr lvl="0"/>
            <a:r>
              <a:rPr lang="en-US" b="1" dirty="0"/>
              <a:t>B cells and antibodies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Antibody recognition of pathogens</a:t>
            </a:r>
            <a:br>
              <a:rPr lang="en-US" b="1" dirty="0"/>
            </a:br>
            <a:r>
              <a:rPr lang="en-US" sz="3100" i="1" dirty="0"/>
              <a:t>Why are antibodies specific and versatile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dirty="0">
                <a:solidFill>
                  <a:prstClr val="black"/>
                </a:solidFill>
              </a:rPr>
            </a:br>
            <a:r>
              <a:rPr lang="en-US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0EFB9-92DF-6148-9C4F-0EAA2842F54A}"/>
              </a:ext>
            </a:extLst>
          </p:cNvPr>
          <p:cNvSpPr txBox="1"/>
          <p:nvPr/>
        </p:nvSpPr>
        <p:spPr>
          <a:xfrm>
            <a:off x="2273974" y="472705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Pavel Tolar</a:t>
            </a:r>
            <a:br>
              <a:rPr lang="en-US" sz="1800" dirty="0"/>
            </a:br>
            <a:r>
              <a:rPr lang="en-US" sz="1800" dirty="0"/>
              <a:t>Institute of Immunity and Transplantation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238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568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B cells and antibodies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6250"/>
            <a:ext cx="8229600" cy="5130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500" dirty="0"/>
              <a:t>Intro  </a:t>
            </a:r>
            <a:r>
              <a:rPr lang="en-US" sz="2500" dirty="0">
                <a:latin typeface="Zapf Dingbats"/>
                <a:ea typeface="Zapf Dingbats"/>
                <a:cs typeface="Zapf Dingbats"/>
                <a:sym typeface="Zapf Dingbats"/>
              </a:rPr>
              <a:t>✔</a:t>
            </a: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B cell development </a:t>
            </a:r>
            <a:r>
              <a:rPr lang="en-US" sz="2500" dirty="0">
                <a:latin typeface="Zapf Dingbats"/>
                <a:ea typeface="Zapf Dingbats"/>
                <a:cs typeface="Zapf Dingbats"/>
                <a:sym typeface="Zapf Dingbats"/>
              </a:rPr>
              <a:t>✔</a:t>
            </a:r>
            <a:endParaRPr lang="en-US" sz="2500" dirty="0"/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B cell activation </a:t>
            </a:r>
            <a:r>
              <a:rPr lang="en-US" sz="2500" dirty="0">
                <a:latin typeface="Zapf Dingbats"/>
                <a:ea typeface="Zapf Dingbats"/>
                <a:cs typeface="Zapf Dingbats"/>
                <a:sym typeface="Zapf Dingbats"/>
              </a:rPr>
              <a:t>✔</a:t>
            </a:r>
            <a:endParaRPr lang="en-US" sz="2500" dirty="0"/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Germinal </a:t>
            </a:r>
            <a:r>
              <a:rPr lang="en-US" sz="2500" dirty="0" err="1"/>
              <a:t>centre</a:t>
            </a:r>
            <a:r>
              <a:rPr lang="en-US" sz="2500" dirty="0"/>
              <a:t> </a:t>
            </a:r>
            <a:r>
              <a:rPr lang="en-US" sz="2500" dirty="0">
                <a:latin typeface="Zapf Dingbats"/>
                <a:ea typeface="Zapf Dingbats"/>
                <a:cs typeface="Zapf Dingbats"/>
                <a:sym typeface="Zapf Dingbats"/>
              </a:rPr>
              <a:t>✔</a:t>
            </a:r>
            <a:endParaRPr lang="en-US" sz="2500" dirty="0"/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Antibody recognition of pathogens </a:t>
            </a: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Antibody effector function and memory</a:t>
            </a: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DFFC64-6BDA-EC41-9903-ED096D22B83E}"/>
              </a:ext>
            </a:extLst>
          </p:cNvPr>
          <p:cNvSpPr/>
          <p:nvPr/>
        </p:nvSpPr>
        <p:spPr>
          <a:xfrm>
            <a:off x="382033" y="4500947"/>
            <a:ext cx="5629884" cy="90412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48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5"/>
          <p:cNvSpPr txBox="1">
            <a:spLocks/>
          </p:cNvSpPr>
          <p:nvPr/>
        </p:nvSpPr>
        <p:spPr bwMode="auto">
          <a:xfrm>
            <a:off x="0" y="0"/>
            <a:ext cx="91440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 typeface="Courier New" charset="0"/>
              <a:buNone/>
            </a:pPr>
            <a:endParaRPr lang="en-GB" sz="2800" b="1" dirty="0">
              <a:solidFill>
                <a:srgbClr val="000000"/>
              </a:solidFill>
              <a:latin typeface="Garamond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Learning 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11771-02E9-E843-86EA-03E1283F7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08" y="1815957"/>
            <a:ext cx="8573784" cy="4525963"/>
          </a:xfrm>
        </p:spPr>
        <p:txBody>
          <a:bodyPr/>
          <a:lstStyle/>
          <a:p>
            <a:pPr>
              <a:spcBef>
                <a:spcPts val="1968"/>
              </a:spcBef>
            </a:pPr>
            <a:r>
              <a:rPr lang="en-US" dirty="0"/>
              <a:t>What determines antibody specificity and affinity for pathogens?</a:t>
            </a:r>
          </a:p>
        </p:txBody>
      </p:sp>
    </p:spTree>
    <p:extLst>
      <p:ext uri="{BB962C8B-B14F-4D97-AF65-F5344CB8AC3E}">
        <p14:creationId xmlns:p14="http://schemas.microsoft.com/office/powerpoint/2010/main" val="398513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380" t="3917" r="2095" b="4788"/>
          <a:stretch/>
        </p:blipFill>
        <p:spPr>
          <a:xfrm>
            <a:off x="2217357" y="1975811"/>
            <a:ext cx="6926643" cy="4718904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39057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 dirty="0"/>
              <a:t>Different genes encode different functional parts of antibody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65672" y="1143000"/>
            <a:ext cx="8211457" cy="50219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>
              <a:buFont typeface="Wingdings" charset="2"/>
              <a:buChar char="Ø"/>
            </a:pPr>
            <a:r>
              <a:rPr lang="en-US" sz="2800" dirty="0">
                <a:solidFill>
                  <a:schemeClr val="accent6"/>
                </a:solidFill>
              </a:rPr>
              <a:t>VDJ makes up Variable region 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antigen binding site</a:t>
            </a:r>
          </a:p>
          <a:p>
            <a:pPr marL="0" indent="0">
              <a:buNone/>
            </a:pPr>
            <a:r>
              <a:rPr lang="en-US" sz="2800" dirty="0"/>
              <a:t>    </a:t>
            </a:r>
            <a:r>
              <a:rPr lang="en-US" sz="2800" dirty="0" err="1"/>
              <a:t>a.k.a</a:t>
            </a:r>
            <a:r>
              <a:rPr lang="en-US" sz="2800" dirty="0"/>
              <a:t> </a:t>
            </a:r>
            <a:r>
              <a:rPr lang="en-US" sz="2800" b="1" u="sng" dirty="0" err="1"/>
              <a:t>paratope</a:t>
            </a:r>
            <a:endParaRPr lang="en-US" sz="2800" b="1" u="sng" dirty="0"/>
          </a:p>
          <a:p>
            <a:pPr>
              <a:buFont typeface="Wingdings" charset="2"/>
              <a:buChar char="Ø"/>
            </a:pPr>
            <a:endParaRPr lang="en-US" sz="2800" dirty="0"/>
          </a:p>
          <a:p>
            <a:pPr>
              <a:buFont typeface="Wingdings" charset="2"/>
              <a:buChar char="Ø"/>
            </a:pPr>
            <a:r>
              <a:rPr lang="en-US" sz="2800" dirty="0">
                <a:solidFill>
                  <a:srgbClr val="D381A2"/>
                </a:solidFill>
              </a:rPr>
              <a:t>Constant region</a:t>
            </a:r>
            <a:br>
              <a:rPr lang="en-US" sz="2800" dirty="0">
                <a:solidFill>
                  <a:srgbClr val="D381A2"/>
                </a:solidFill>
              </a:rPr>
            </a:br>
            <a:r>
              <a:rPr lang="en-US" sz="2800" dirty="0"/>
              <a:t>downstream actions</a:t>
            </a:r>
          </a:p>
        </p:txBody>
      </p:sp>
      <p:sp>
        <p:nvSpPr>
          <p:cNvPr id="4" name="Right Brace 3"/>
          <p:cNvSpPr/>
          <p:nvPr/>
        </p:nvSpPr>
        <p:spPr>
          <a:xfrm rot="2401805">
            <a:off x="7090156" y="3092163"/>
            <a:ext cx="635681" cy="1865618"/>
          </a:xfrm>
          <a:prstGeom prst="rightBrac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88506" y="4140336"/>
            <a:ext cx="7683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2800" b="1" dirty="0">
                <a:solidFill>
                  <a:prstClr val="black"/>
                </a:solidFill>
              </a:rPr>
              <a:t>FAB</a:t>
            </a:r>
          </a:p>
        </p:txBody>
      </p:sp>
      <p:sp>
        <p:nvSpPr>
          <p:cNvPr id="9" name="Right Brace 8"/>
          <p:cNvSpPr/>
          <p:nvPr/>
        </p:nvSpPr>
        <p:spPr>
          <a:xfrm rot="10800000">
            <a:off x="4722237" y="4597251"/>
            <a:ext cx="635681" cy="1865618"/>
          </a:xfrm>
          <a:prstGeom prst="rightBrac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177819" y="5192469"/>
            <a:ext cx="5395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2800" b="1" dirty="0">
                <a:solidFill>
                  <a:prstClr val="black"/>
                </a:solidFill>
              </a:rPr>
              <a:t>FC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871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3123768"/>
            <a:ext cx="9446262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Antibodies as ice cream</a:t>
            </a:r>
            <a:r>
              <a:rPr lang="is-IS" b="1" dirty="0"/>
              <a:t>…</a:t>
            </a:r>
            <a:br>
              <a:rPr lang="is-IS" b="1" dirty="0"/>
            </a:br>
            <a:br>
              <a:rPr lang="is-IS" b="1" dirty="0"/>
            </a:br>
            <a:br>
              <a:rPr lang="is-IS" b="1" dirty="0"/>
            </a:br>
            <a:br>
              <a:rPr lang="is-IS" b="1" dirty="0"/>
            </a:br>
            <a:br>
              <a:rPr lang="is-IS" b="1" dirty="0"/>
            </a:br>
            <a:br>
              <a:rPr lang="is-IS" b="1" dirty="0"/>
            </a:br>
            <a:r>
              <a:rPr lang="is-IS" b="1" dirty="0"/>
              <a:t>Scoop = antigen binding </a:t>
            </a:r>
            <a:br>
              <a:rPr lang="is-IS" b="1" dirty="0"/>
            </a:br>
            <a:r>
              <a:rPr lang="is-IS" b="1" dirty="0"/>
              <a:t>variable region/FAB</a:t>
            </a:r>
            <a:br>
              <a:rPr lang="is-IS" b="1" dirty="0"/>
            </a:br>
            <a:r>
              <a:rPr lang="is-IS" b="1" dirty="0"/>
              <a:t>Cone = constant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1212"/>
          <a:stretch/>
        </p:blipFill>
        <p:spPr>
          <a:xfrm>
            <a:off x="2134409" y="1417638"/>
            <a:ext cx="4664345" cy="199968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72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does an antibody bind its target?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4497"/>
          <a:stretch/>
        </p:blipFill>
        <p:spPr>
          <a:xfrm>
            <a:off x="4175034" y="1246287"/>
            <a:ext cx="4968966" cy="338012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21294" y="1497240"/>
            <a:ext cx="8516093" cy="5021943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sz="2400" dirty="0"/>
              <a:t>Combined heavy and </a:t>
            </a:r>
            <a:br>
              <a:rPr lang="en-US" sz="2400" dirty="0"/>
            </a:br>
            <a:r>
              <a:rPr lang="en-US" sz="2400" dirty="0"/>
              <a:t>light chain variable region</a:t>
            </a:r>
            <a:br>
              <a:rPr lang="en-US" sz="2400" dirty="0"/>
            </a:br>
            <a:r>
              <a:rPr lang="en-US" sz="2400" dirty="0"/>
              <a:t>form the binding site</a:t>
            </a:r>
          </a:p>
          <a:p>
            <a:pPr>
              <a:buFont typeface="Wingdings" charset="2"/>
              <a:buChar char="Ø"/>
            </a:pPr>
            <a:endParaRPr lang="en-US" sz="2400" dirty="0"/>
          </a:p>
          <a:p>
            <a:pPr>
              <a:buFont typeface="Wingdings" charset="2"/>
              <a:buChar char="Ø"/>
            </a:pPr>
            <a:r>
              <a:rPr lang="en-US" sz="2400" dirty="0"/>
              <a:t>Relative importance</a:t>
            </a:r>
            <a:br>
              <a:rPr lang="en-US" sz="2400" dirty="0"/>
            </a:br>
            <a:r>
              <a:rPr lang="en-US" sz="2400" dirty="0"/>
              <a:t>CDRH3 &gt; 2 &gt; 1 loops</a:t>
            </a:r>
          </a:p>
          <a:p>
            <a:pPr>
              <a:buFont typeface="Wingdings" charset="2"/>
              <a:buChar char="Ø"/>
            </a:pPr>
            <a:endParaRPr lang="en-US" sz="2400" dirty="0"/>
          </a:p>
          <a:p>
            <a:pPr>
              <a:buFont typeface="Wingdings" charset="2"/>
              <a:buChar char="Ø"/>
            </a:pPr>
            <a:r>
              <a:rPr lang="en-US" sz="2400" dirty="0"/>
              <a:t>Light chains also have CDRs – 3 &gt; 2 &gt; 1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charset="2"/>
              <a:buChar char="Ø"/>
            </a:pPr>
            <a:r>
              <a:rPr lang="en-US" sz="2400" dirty="0"/>
              <a:t>Bind through hydrophobic bonding, van der Waals forces, and salt bridges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94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2"/>
          <p:cNvSpPr txBox="1">
            <a:spLocks noChangeArrowheads="1"/>
          </p:cNvSpPr>
          <p:nvPr/>
        </p:nvSpPr>
        <p:spPr bwMode="auto">
          <a:xfrm>
            <a:off x="731838" y="6331405"/>
            <a:ext cx="7785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cs typeface="Arial" charset="0"/>
              </a:rPr>
              <a:t>CDR: Complementarity determining region 		FR: Framework region</a:t>
            </a:r>
          </a:p>
        </p:txBody>
      </p:sp>
      <p:pic>
        <p:nvPicPr>
          <p:cNvPr id="5" name="Picture 7" descr="variable domain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2" t="6956" r="5000" b="15540"/>
          <a:stretch>
            <a:fillRect/>
          </a:stretch>
        </p:blipFill>
        <p:spPr bwMode="auto">
          <a:xfrm>
            <a:off x="420688" y="998993"/>
            <a:ext cx="8143875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57200" y="2063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Antibodies bind by having diverse Fab/VDJs on a common framework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7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How diverse can antibodies be based on this multi-component assembly?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79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C9D0-A714-95B4-615E-F61DFF77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283DAE7-FFF1-EA43-93F6-487184200F90}"/>
              </a:ext>
            </a:extLst>
          </p:cNvPr>
          <p:cNvSpPr txBox="1"/>
          <p:nvPr/>
        </p:nvSpPr>
        <p:spPr>
          <a:xfrm>
            <a:off x="3408976" y="177727"/>
            <a:ext cx="219803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Hairs on body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5 million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918C4-AF72-EF1C-BC5F-048FE85DE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0" y="791536"/>
            <a:ext cx="3175000" cy="2120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0C51A9-01DE-3F9D-7161-1D502A792E7D}"/>
              </a:ext>
            </a:extLst>
          </p:cNvPr>
          <p:cNvSpPr txBox="1"/>
          <p:nvPr/>
        </p:nvSpPr>
        <p:spPr>
          <a:xfrm>
            <a:off x="533020" y="3256135"/>
            <a:ext cx="43011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People on the tube annually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1000 million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25BC5A-27A1-019C-426F-DD0F66D0F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61" y="3927430"/>
            <a:ext cx="2686463" cy="21676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2E5575-72D1-DB91-6517-58A53286EB36}"/>
              </a:ext>
            </a:extLst>
          </p:cNvPr>
          <p:cNvSpPr txBox="1"/>
          <p:nvPr/>
        </p:nvSpPr>
        <p:spPr>
          <a:xfrm>
            <a:off x="5295033" y="3256135"/>
            <a:ext cx="283923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Stars in our galaxy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r>
              <a:rPr lang="is-IS" sz="2800" dirty="0"/>
              <a:t>1,000,000 </a:t>
            </a:r>
            <a:r>
              <a:rPr lang="en-US" sz="2800" dirty="0"/>
              <a:t> million</a:t>
            </a:r>
          </a:p>
          <a:p>
            <a:pPr algn="ctr"/>
            <a:r>
              <a:rPr lang="en-US" sz="2800" dirty="0"/>
              <a:t>10</a:t>
            </a:r>
            <a:r>
              <a:rPr lang="en-US" sz="2800" baseline="30000" dirty="0"/>
              <a:t>^12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A68316-0DEF-563E-73F5-8CC6310CD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033" y="3778649"/>
            <a:ext cx="3129074" cy="22878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71006-3663-27ED-E9EB-E597D438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71960"/>
            <a:ext cx="2133600" cy="365125"/>
          </a:xfrm>
        </p:spPr>
        <p:txBody>
          <a:bodyPr/>
          <a:lstStyle/>
          <a:p>
            <a:fld id="{EAF1D001-D807-5D47-A7A7-FF6E3A26E8E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17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42839" y="420203"/>
            <a:ext cx="21980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Hairs on body</a:t>
            </a:r>
          </a:p>
          <a:p>
            <a:pPr algn="ctr"/>
            <a:endParaRPr lang="en-US" sz="2800" dirty="0"/>
          </a:p>
          <a:p>
            <a:pPr algn="ctr"/>
            <a:r>
              <a:rPr lang="en-US" sz="2800" b="1" dirty="0"/>
              <a:t>5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020" y="3140525"/>
            <a:ext cx="430117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People on the tube annually</a:t>
            </a:r>
          </a:p>
          <a:p>
            <a:pPr algn="ctr"/>
            <a:endParaRPr lang="en-US" sz="2800" dirty="0"/>
          </a:p>
          <a:p>
            <a:pPr algn="ctr"/>
            <a:r>
              <a:rPr lang="en-US" sz="2800" b="1" dirty="0"/>
              <a:t>1000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5033" y="3140525"/>
            <a:ext cx="28392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Stars in our galaxy</a:t>
            </a:r>
          </a:p>
          <a:p>
            <a:pPr algn="ctr"/>
            <a:endParaRPr lang="en-US" sz="2800" dirty="0"/>
          </a:p>
          <a:p>
            <a:pPr algn="ctr"/>
            <a:r>
              <a:rPr lang="is-IS" sz="2800" b="1" dirty="0"/>
              <a:t>1,000,000 </a:t>
            </a:r>
            <a:r>
              <a:rPr lang="en-US" sz="2800" b="1" dirty="0"/>
              <a:t> million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727" y="4956407"/>
            <a:ext cx="1711321" cy="171132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44918" y="3870234"/>
            <a:ext cx="5041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6553" y="1094377"/>
            <a:ext cx="5041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2340" y="3873641"/>
            <a:ext cx="5041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√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4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364341"/>
            <a:ext cx="841647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Case study: PG9 vs </a:t>
            </a:r>
            <a:r>
              <a:rPr lang="en-US" sz="2400" b="1" dirty="0">
                <a:solidFill>
                  <a:srgbClr val="FF00FF"/>
                </a:solidFill>
              </a:rPr>
              <a:t>HIV </a:t>
            </a:r>
            <a:r>
              <a:rPr lang="en-US" sz="2400" b="1" dirty="0"/>
              <a:t>“Hammerhead”</a:t>
            </a:r>
          </a:p>
          <a:p>
            <a:pPr>
              <a:buFont typeface="Wingdings" charset="2"/>
              <a:buChar char="Ø"/>
            </a:pPr>
            <a:r>
              <a:rPr lang="en-US" sz="2400" dirty="0">
                <a:solidFill>
                  <a:prstClr val="black"/>
                </a:solidFill>
              </a:rPr>
              <a:t>Protrusion of CDR H3 due to Gly H97-Gly H98 , sandwiched between Tyr H100N and Tyr H100Q to form a stalk</a:t>
            </a:r>
            <a:endParaRPr lang="en-US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063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Real data: How does an antibody use its </a:t>
            </a:r>
            <a:r>
              <a:rPr lang="en-US" b="1" dirty="0" err="1"/>
              <a:t>paratope</a:t>
            </a:r>
            <a:r>
              <a:rPr lang="en-US" b="1" dirty="0"/>
              <a:t> to hit its target epitope?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269" t="23043" r="8366" b="26130"/>
          <a:stretch/>
        </p:blipFill>
        <p:spPr>
          <a:xfrm>
            <a:off x="4568146" y="2852145"/>
            <a:ext cx="4575854" cy="32750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46064" r="57097" b="8791"/>
          <a:stretch/>
        </p:blipFill>
        <p:spPr>
          <a:xfrm>
            <a:off x="813806" y="3161106"/>
            <a:ext cx="2327163" cy="2776936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2780531" y="3530038"/>
            <a:ext cx="1939507" cy="2059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6509880"/>
            <a:ext cx="657392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u="sng" dirty="0"/>
              <a:t>Learn more: </a:t>
            </a:r>
            <a:r>
              <a:rPr lang="en-US" dirty="0"/>
              <a:t>McLellan et al. </a:t>
            </a:r>
            <a:r>
              <a:rPr lang="nb-NO" dirty="0"/>
              <a:t>Nature. 2011 Nov 23;480(7377):336-43.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-5276" y="6224834"/>
            <a:ext cx="578876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is-IS" b="1" u="sng" dirty="0"/>
              <a:t>Learn more: </a:t>
            </a:r>
            <a:r>
              <a:rPr lang="is-IS" dirty="0"/>
              <a:t>Pechjal et al. PNAS 2010 107 (25) 11483-11488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565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1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charset="0"/>
                <a:ea typeface="ＭＳ Ｐゴシック" charset="0"/>
                <a:cs typeface="ＭＳ Ｐゴシック" charset="0"/>
              </a:rPr>
              <a:t>Somatic hypermutation enables affinity maturation of B cell clonal families</a:t>
            </a:r>
            <a:endParaRPr lang="en-US" b="1" dirty="0"/>
          </a:p>
        </p:txBody>
      </p:sp>
      <p:sp>
        <p:nvSpPr>
          <p:cNvPr id="3" name="Curved Left Arrow 2"/>
          <p:cNvSpPr/>
          <p:nvPr/>
        </p:nvSpPr>
        <p:spPr>
          <a:xfrm>
            <a:off x="2681240" y="2716738"/>
            <a:ext cx="740868" cy="1975810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7319" y="3104844"/>
            <a:ext cx="2886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Affinity maturation</a:t>
            </a:r>
          </a:p>
        </p:txBody>
      </p:sp>
      <p:sp>
        <p:nvSpPr>
          <p:cNvPr id="14" name="Content Placeholder 8"/>
          <p:cNvSpPr>
            <a:spLocks noGrp="1"/>
          </p:cNvSpPr>
          <p:nvPr>
            <p:ph idx="1"/>
          </p:nvPr>
        </p:nvSpPr>
        <p:spPr>
          <a:xfrm>
            <a:off x="457199" y="1653123"/>
            <a:ext cx="8415589" cy="4525963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800" dirty="0">
                <a:latin typeface="Calibri" charset="0"/>
                <a:ea typeface="ＭＳ Ｐゴシック" charset="0"/>
                <a:cs typeface="ＭＳ Ｐゴシック" charset="0"/>
              </a:rPr>
              <a:t>Point mutations are introduced into VDJ by activation induced cytidine deaminase (AID or </a:t>
            </a:r>
            <a:r>
              <a:rPr lang="en-US" sz="2800" i="1" dirty="0">
                <a:latin typeface="Calibri" charset="0"/>
                <a:ea typeface="ＭＳ Ｐゴシック" charset="0"/>
                <a:cs typeface="ＭＳ Ｐゴシック" charset="0"/>
              </a:rPr>
              <a:t>AIDCA</a:t>
            </a:r>
            <a:r>
              <a:rPr lang="en-US" sz="2800" dirty="0">
                <a:latin typeface="Calibri" charset="0"/>
                <a:ea typeface="ＭＳ Ｐゴシック" charset="0"/>
                <a:cs typeface="ＭＳ Ｐゴシック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800" dirty="0"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800" dirty="0"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800" dirty="0"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sz="2800" dirty="0">
                <a:cs typeface="Arial" charset="0"/>
              </a:rPr>
              <a:t>Changing aa can </a:t>
            </a:r>
            <a:r>
              <a:rPr lang="en-US" sz="2800" dirty="0"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n-US" sz="2800" dirty="0">
                <a:cs typeface="Arial" charset="0"/>
                <a:sym typeface="Wingdings"/>
              </a:rPr>
              <a:t> </a:t>
            </a:r>
            <a:r>
              <a:rPr lang="en-US" sz="2800" dirty="0">
                <a:cs typeface="Arial" charset="0"/>
              </a:rPr>
              <a:t>binding of BCR to antigen</a:t>
            </a:r>
          </a:p>
          <a:p>
            <a:pPr>
              <a:spcAft>
                <a:spcPts val="1200"/>
              </a:spcAft>
            </a:pPr>
            <a:r>
              <a:rPr lang="en-US" sz="2800" dirty="0">
                <a:cs typeface="Arial" charset="0"/>
              </a:rPr>
              <a:t>Results in </a:t>
            </a:r>
            <a:r>
              <a:rPr lang="en-US" sz="2800" dirty="0"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n-US" sz="2800" dirty="0">
                <a:cs typeface="Arial" charset="0"/>
                <a:sym typeface="Wingdings"/>
              </a:rPr>
              <a:t> signalling </a:t>
            </a:r>
            <a:r>
              <a:rPr lang="en-US" sz="2800" dirty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2800" dirty="0">
                <a:cs typeface="Arial" charset="0"/>
                <a:sym typeface="Wingdings"/>
              </a:rPr>
              <a:t> B cell survives</a:t>
            </a:r>
            <a:endParaRPr lang="en-US" sz="2800" dirty="0"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sz="2800" dirty="0">
                <a:cs typeface="Arial" charset="0"/>
              </a:rPr>
              <a:t>If </a:t>
            </a:r>
            <a:r>
              <a:rPr lang="en-US" sz="2800" dirty="0">
                <a:latin typeface="Wingdings"/>
                <a:ea typeface="Wingdings"/>
                <a:cs typeface="Wingdings"/>
                <a:sym typeface="Wingdings"/>
              </a:rPr>
              <a:t></a:t>
            </a:r>
            <a:r>
              <a:rPr lang="en-US" sz="2800" dirty="0">
                <a:cs typeface="Arial" charset="0"/>
                <a:sym typeface="Wingdings"/>
              </a:rPr>
              <a:t> binding of BCR, </a:t>
            </a:r>
            <a:r>
              <a:rPr lang="en-US" sz="2800" dirty="0">
                <a:latin typeface="Wingdings"/>
                <a:ea typeface="Wingdings"/>
                <a:cs typeface="Wingdings"/>
                <a:sym typeface="Wingdings"/>
              </a:rPr>
              <a:t></a:t>
            </a:r>
            <a:r>
              <a:rPr lang="en-US" sz="2800" dirty="0">
                <a:cs typeface="Arial" charset="0"/>
                <a:sym typeface="Wingdings"/>
              </a:rPr>
              <a:t>signalling  </a:t>
            </a:r>
            <a:r>
              <a:rPr lang="en-US" sz="2800" dirty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2800" dirty="0">
                <a:cs typeface="Arial" charset="0"/>
                <a:sym typeface="Wingdings"/>
              </a:rPr>
              <a:t>B cell apoptosis</a:t>
            </a:r>
            <a:endParaRPr lang="en-US" sz="2800" dirty="0"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800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>
              <a:spcAft>
                <a:spcPts val="1200"/>
              </a:spcAft>
            </a:pPr>
            <a:endParaRPr lang="en-US" sz="2800" dirty="0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5" name="Picture 13" descr="lymphoid tissue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77" t="23853" b="16727"/>
          <a:stretch/>
        </p:blipFill>
        <p:spPr bwMode="auto">
          <a:xfrm>
            <a:off x="6426554" y="2215434"/>
            <a:ext cx="2735086" cy="3028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urved Left Arrow 8"/>
          <p:cNvSpPr/>
          <p:nvPr/>
        </p:nvSpPr>
        <p:spPr>
          <a:xfrm rot="10800000">
            <a:off x="46563" y="2540325"/>
            <a:ext cx="817788" cy="3245970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879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Real Data: Affinity increase during HIV infection </a:t>
            </a:r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b="1" dirty="0">
                <a:sym typeface="Wingdings"/>
              </a:rPr>
              <a:t> anti-viral activity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Affinity maturation allows B cells to specialise – makes memory worth it</a:t>
            </a:r>
            <a:br>
              <a:rPr lang="en-US" b="1" dirty="0"/>
            </a:br>
            <a:endParaRPr lang="en-US" dirty="0"/>
          </a:p>
        </p:txBody>
      </p:sp>
      <p:pic>
        <p:nvPicPr>
          <p:cNvPr id="6" name="Picture 10" descr="C:\Documents and Settings\Administrator\Desktop\12053\completed\nature12053-f5.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5" r="7762" b="72107"/>
          <a:stretch/>
        </p:blipFill>
        <p:spPr bwMode="auto">
          <a:xfrm>
            <a:off x="1270061" y="1653318"/>
            <a:ext cx="7004410" cy="2189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 descr="C:\Documents and Settings\Administrator\Desktop\12053\completed\nature12053-f5.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" t="29700" r="68378" b="34137"/>
          <a:stretch/>
        </p:blipFill>
        <p:spPr bwMode="auto">
          <a:xfrm>
            <a:off x="723229" y="3890665"/>
            <a:ext cx="2487203" cy="2893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C:\Documents and Settings\Administrator\Desktop\12053\completed\nature12053-f5.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58" t="64815" r="744" b="-978"/>
          <a:stretch/>
        </p:blipFill>
        <p:spPr bwMode="auto">
          <a:xfrm>
            <a:off x="5245389" y="4025450"/>
            <a:ext cx="3706008" cy="275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ight Arrow 8"/>
          <p:cNvSpPr/>
          <p:nvPr/>
        </p:nvSpPr>
        <p:spPr>
          <a:xfrm>
            <a:off x="3210432" y="5063012"/>
            <a:ext cx="2034957" cy="49395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122231" y="5609887"/>
            <a:ext cx="225789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Learn more affinity: </a:t>
            </a:r>
          </a:p>
          <a:p>
            <a:pPr algn="ctr"/>
            <a:r>
              <a:rPr lang="en-US" dirty="0"/>
              <a:t>H-X Liao </a:t>
            </a:r>
            <a:r>
              <a:rPr lang="en-GB" altLang="zh-CN" i="1" dirty="0">
                <a:ea typeface="宋体" charset="0"/>
                <a:cs typeface="宋体" charset="0"/>
              </a:rPr>
              <a:t>et al. Nature </a:t>
            </a:r>
            <a:r>
              <a:rPr lang="en-US" altLang="zh-CN" dirty="0">
                <a:ea typeface="宋体" charset="0"/>
                <a:cs typeface="宋体" charset="0"/>
              </a:rPr>
              <a:t>000</a:t>
            </a:r>
            <a:r>
              <a:rPr lang="en-GB" altLang="zh-CN" dirty="0">
                <a:ea typeface="宋体" charset="0"/>
                <a:cs typeface="宋体" charset="0"/>
              </a:rPr>
              <a:t>, 1-8 (2013)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424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63AF-D785-4241-8CB4-64A148C8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0035"/>
            <a:ext cx="6311462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Antibody recognition of pathogens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42D95-EA8B-8A41-9E9F-B2D5B8D1F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36505"/>
            <a:ext cx="8529144" cy="452596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400" dirty="0"/>
              <a:t>Antibodies made from two proteins: heavy and light chain (kappa or lambda)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Fab or Variable region for binding specificity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Variable region made from V(D)J gene combinations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Binding antigen (epitope) by CDR1-3 of both heavy and light chains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Huge variability limits pathogen escape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Somatic mutations fine-tune CDRs for high affinity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Fc or constant region for conserved effector functions (coming up next)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AAE68-73F0-81CA-FA1D-0AB61B1657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518" b="15671"/>
          <a:stretch/>
        </p:blipFill>
        <p:spPr>
          <a:xfrm>
            <a:off x="6875353" y="0"/>
            <a:ext cx="2268647" cy="149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51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179286"/>
            <a:ext cx="8229600" cy="5170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lvl="0" indent="-514350">
              <a:buFont typeface="+mj-lt"/>
              <a:buAutoNum type="arabicPeriod"/>
            </a:pPr>
            <a:r>
              <a:rPr lang="en-US" dirty="0"/>
              <a:t>Intro:  </a:t>
            </a:r>
            <a:r>
              <a:rPr lang="en-US" dirty="0">
                <a:latin typeface="Zapf Dingbats"/>
                <a:ea typeface="Zapf Dingbats"/>
                <a:cs typeface="Zapf Dingbats"/>
                <a:sym typeface="Zapf Dingbats"/>
              </a:rPr>
              <a:t>✔ </a:t>
            </a:r>
            <a:r>
              <a:rPr lang="en-US" sz="2600" dirty="0">
                <a:solidFill>
                  <a:prstClr val="black"/>
                </a:solidFill>
              </a:rPr>
              <a:t>Describe the structural components that make up an antibody molecule and the function of each part</a:t>
            </a:r>
            <a:endParaRPr lang="en-US" sz="2600" dirty="0">
              <a:latin typeface="Zapf Dingbats"/>
              <a:ea typeface="Zapf Dingbats"/>
              <a:cs typeface="Zapf Dingbats"/>
              <a:sym typeface="Zapf Dingbats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 cell development: </a:t>
            </a:r>
            <a:r>
              <a:rPr lang="en-US" sz="2800" dirty="0">
                <a:latin typeface="Zapf Dingbats"/>
                <a:ea typeface="Zapf Dingbats"/>
                <a:cs typeface="Zapf Dingbats"/>
                <a:sym typeface="Zapf Dingbats"/>
              </a:rPr>
              <a:t>✔ </a:t>
            </a:r>
            <a:r>
              <a:rPr lang="en-US" sz="2600" dirty="0"/>
              <a:t>Explain the role of B cell development in generation of the antibody repertoire and describe the underlying molecular mechanisms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 cell activation: </a:t>
            </a:r>
            <a:r>
              <a:rPr lang="en-US" sz="2800" dirty="0">
                <a:latin typeface="Zapf Dingbats"/>
                <a:ea typeface="Zapf Dingbats"/>
                <a:cs typeface="Zapf Dingbats"/>
                <a:sym typeface="Zapf Dingbats"/>
              </a:rPr>
              <a:t>✔ </a:t>
            </a:r>
            <a:r>
              <a:rPr lang="en-US" sz="2600" dirty="0"/>
              <a:t>Describe the signals that drive clonal B cell responses and differentiation into antibody-secreting cells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Germinal centre: </a:t>
            </a:r>
            <a:r>
              <a:rPr lang="en-US" dirty="0">
                <a:latin typeface="Zapf Dingbats"/>
                <a:ea typeface="Zapf Dingbats"/>
                <a:cs typeface="Zapf Dingbats"/>
                <a:sym typeface="Zapf Dingbats"/>
              </a:rPr>
              <a:t>✔ </a:t>
            </a:r>
            <a:r>
              <a:rPr lang="en-US" sz="2600" dirty="0">
                <a:solidFill>
                  <a:prstClr val="black"/>
                </a:solidFill>
              </a:rPr>
              <a:t>Explain what germinal </a:t>
            </a:r>
            <a:r>
              <a:rPr lang="en-US" sz="2600" dirty="0" err="1">
                <a:solidFill>
                  <a:prstClr val="black"/>
                </a:solidFill>
              </a:rPr>
              <a:t>centres</a:t>
            </a:r>
            <a:r>
              <a:rPr lang="en-US" sz="2600" dirty="0">
                <a:solidFill>
                  <a:prstClr val="black"/>
                </a:solidFill>
              </a:rPr>
              <a:t> are and how they improve antibody affinity</a:t>
            </a:r>
          </a:p>
          <a:p>
            <a:pPr marL="514350" indent="-514350">
              <a:buFont typeface="+mj-lt"/>
              <a:buAutoNum type="arabicPeriod"/>
            </a:pPr>
            <a:endParaRPr lang="en-US" sz="2300" dirty="0">
              <a:solidFill>
                <a:prstClr val="black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Antibody recognition of pathogens: </a:t>
            </a:r>
            <a:r>
              <a:rPr lang="en-US" sz="3100" dirty="0">
                <a:latin typeface="Zapf Dingbats"/>
                <a:ea typeface="Zapf Dingbats"/>
                <a:cs typeface="Zapf Dingbats"/>
                <a:sym typeface="Zapf Dingbats"/>
              </a:rPr>
              <a:t>✔</a:t>
            </a:r>
            <a:r>
              <a:rPr lang="en-US" sz="1600" dirty="0">
                <a:latin typeface="Zapf Dingbats"/>
                <a:ea typeface="Zapf Dingbats"/>
                <a:cs typeface="Zapf Dingbats"/>
                <a:sym typeface="Zapf Dingbats"/>
              </a:rPr>
              <a:t> </a:t>
            </a:r>
            <a:r>
              <a:rPr lang="en-US" sz="2600" dirty="0">
                <a:solidFill>
                  <a:prstClr val="black"/>
                </a:solidFill>
              </a:rPr>
              <a:t>Explain why multi-component assembly is a critical factor in producing effective antibodies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	Antibody effector function and memory</a:t>
            </a:r>
            <a:r>
              <a:rPr lang="en-US" sz="2300" dirty="0"/>
              <a:t>: </a:t>
            </a:r>
            <a:r>
              <a:rPr lang="en-US" sz="2600" dirty="0">
                <a:solidFill>
                  <a:prstClr val="black"/>
                </a:solidFill>
              </a:rPr>
              <a:t>Explain how </a:t>
            </a:r>
            <a:r>
              <a:rPr lang="en-US" sz="2600">
                <a:solidFill>
                  <a:prstClr val="black"/>
                </a:solidFill>
              </a:rPr>
              <a:t>antibody 	responses </a:t>
            </a:r>
            <a:r>
              <a:rPr lang="en-US" sz="2600" dirty="0">
                <a:solidFill>
                  <a:prstClr val="black"/>
                </a:solidFill>
              </a:rPr>
              <a:t>protect from pathogens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80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261097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28996</TotalTime>
  <Words>629</Words>
  <Application>Microsoft Macintosh PowerPoint</Application>
  <PresentationFormat>On-screen Show (4:3)</PresentationFormat>
  <Paragraphs>111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宋体</vt:lpstr>
      <vt:lpstr>Zapf Dingbats</vt:lpstr>
      <vt:lpstr>Arial</vt:lpstr>
      <vt:lpstr>Calibri</vt:lpstr>
      <vt:lpstr>Courier New</vt:lpstr>
      <vt:lpstr>Garamond</vt:lpstr>
      <vt:lpstr>Wingdings</vt:lpstr>
      <vt:lpstr>Office Theme</vt:lpstr>
      <vt:lpstr>B cells and antibodies   Antibody recognition of pathogens Why are antibodies specific and versatile     </vt:lpstr>
      <vt:lpstr>B cells and antibodies</vt:lpstr>
      <vt:lpstr>Learning objectives</vt:lpstr>
      <vt:lpstr>Different genes encode different functional parts of antibody</vt:lpstr>
      <vt:lpstr>Antibodies as ice cream…      Scoop = antigen binding  variable region/FAB Cone = constant  </vt:lpstr>
      <vt:lpstr>How does an antibody bind its target?</vt:lpstr>
      <vt:lpstr>PowerPoint Presentation</vt:lpstr>
      <vt:lpstr>Question</vt:lpstr>
      <vt:lpstr>PowerPoint Presentation</vt:lpstr>
      <vt:lpstr>PowerPoint Presentation</vt:lpstr>
      <vt:lpstr>Real data: How does an antibody use its paratope to hit its target epitope?</vt:lpstr>
      <vt:lpstr>Somatic hypermutation enables affinity maturation of B cell clonal families</vt:lpstr>
      <vt:lpstr>Real Data: Affinity increase during HIV infection  anti-viral activity</vt:lpstr>
      <vt:lpstr>Summary: Antibody recognition of pathogens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</dc:creator>
  <cp:lastModifiedBy>Tolar, Pavel</cp:lastModifiedBy>
  <cp:revision>125</cp:revision>
  <dcterms:created xsi:type="dcterms:W3CDTF">2019-07-29T08:27:17Z</dcterms:created>
  <dcterms:modified xsi:type="dcterms:W3CDTF">2025-10-03T13:39:37Z</dcterms:modified>
</cp:coreProperties>
</file>